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1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100" y="6794500"/>
            <a:ext cx="711200" cy="685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4100" y="4686300"/>
            <a:ext cx="711200" cy="6858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4900" y="2336800"/>
            <a:ext cx="6121400" cy="203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44100" y="2273300"/>
            <a:ext cx="711200" cy="6604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863600" y="8407400"/>
            <a:ext cx="8420100" cy="0"/>
          </a:xfrm>
          <a:custGeom>
            <a:avLst/>
            <a:gdLst/>
            <a:ahLst/>
            <a:cxnLst/>
            <a:rect l="l" t="t" r="r" b="b"/>
            <a:pathLst>
              <a:path w="8420100">
                <a:moveTo>
                  <a:pt x="0" y="0"/>
                </a:moveTo>
                <a:lnTo>
                  <a:pt x="8420100" y="0"/>
                </a:lnTo>
              </a:path>
            </a:pathLst>
          </a:custGeom>
          <a:ln w="25400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864187" y="2194630"/>
            <a:ext cx="5704840" cy="603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0750" y="261055"/>
            <a:ext cx="15600993" cy="15791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20069" y="2680405"/>
            <a:ext cx="7120255" cy="6297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677" y="9462029"/>
            <a:ext cx="1237615" cy="219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10" Type="http://schemas.openxmlformats.org/officeDocument/2006/relationships/image" Target="../media/image36.png"/><Relationship Id="rId4" Type="http://schemas.openxmlformats.org/officeDocument/2006/relationships/image" Target="../media/image30.jpg"/><Relationship Id="rId9" Type="http://schemas.openxmlformats.org/officeDocument/2006/relationships/image" Target="../media/image3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952500"/>
            <a:ext cx="15519400" cy="5562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6638" y="6770863"/>
            <a:ext cx="7294245" cy="1052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700" dirty="0">
                <a:solidFill>
                  <a:srgbClr val="012A7B"/>
                </a:solidFill>
                <a:latin typeface="Calibri"/>
                <a:cs typeface="Calibri"/>
              </a:rPr>
              <a:t>Smart</a:t>
            </a:r>
            <a:r>
              <a:rPr sz="6700" spc="-240" dirty="0">
                <a:solidFill>
                  <a:srgbClr val="012A7B"/>
                </a:solidFill>
                <a:latin typeface="Calibri"/>
                <a:cs typeface="Calibri"/>
              </a:rPr>
              <a:t> </a:t>
            </a:r>
            <a:r>
              <a:rPr sz="6700" dirty="0">
                <a:solidFill>
                  <a:srgbClr val="002F7E"/>
                </a:solidFill>
                <a:latin typeface="Calibri"/>
                <a:cs typeface="Calibri"/>
              </a:rPr>
              <a:t>City</a:t>
            </a:r>
            <a:r>
              <a:rPr sz="6700" spc="-340" dirty="0">
                <a:solidFill>
                  <a:srgbClr val="002F7E"/>
                </a:solidFill>
                <a:latin typeface="Calibri"/>
                <a:cs typeface="Calibri"/>
              </a:rPr>
              <a:t> </a:t>
            </a:r>
            <a:r>
              <a:rPr sz="6700" spc="-70" dirty="0">
                <a:solidFill>
                  <a:srgbClr val="032F87"/>
                </a:solidFill>
                <a:latin typeface="Calibri"/>
                <a:cs typeface="Calibri"/>
              </a:rPr>
              <a:t>Almaty </a:t>
            </a:r>
            <a:r>
              <a:rPr sz="6700" spc="-25" dirty="0">
                <a:solidFill>
                  <a:srgbClr val="032D82"/>
                </a:solidFill>
                <a:latin typeface="Calibri"/>
                <a:cs typeface="Calibri"/>
              </a:rPr>
              <a:t>OS</a:t>
            </a:r>
            <a:endParaRPr sz="6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187" y="7747000"/>
            <a:ext cx="12686030" cy="161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3750" spc="-240" dirty="0">
                <a:solidFill>
                  <a:srgbClr val="3D3D3D"/>
                </a:solidFill>
                <a:latin typeface="Calibri"/>
                <a:cs typeface="Calibri"/>
              </a:rPr>
              <a:t>An</a:t>
            </a:r>
            <a:r>
              <a:rPr sz="3750" spc="-1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50" spc="-140" dirty="0">
                <a:solidFill>
                  <a:srgbClr val="2D2D2D"/>
                </a:solidFill>
                <a:latin typeface="Calibri"/>
                <a:cs typeface="Calibri"/>
              </a:rPr>
              <a:t>Al-</a:t>
            </a:r>
            <a:r>
              <a:rPr sz="3750" spc="-155" dirty="0">
                <a:solidFill>
                  <a:srgbClr val="2D2D2D"/>
                </a:solidFill>
                <a:latin typeface="Calibri"/>
                <a:cs typeface="Calibri"/>
              </a:rPr>
              <a:t>Driven</a:t>
            </a:r>
            <a:r>
              <a:rPr sz="3750" spc="-2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750" spc="-70" dirty="0">
                <a:solidFill>
                  <a:srgbClr val="2F2F2F"/>
                </a:solidFill>
                <a:latin typeface="Calibri"/>
                <a:cs typeface="Calibri"/>
              </a:rPr>
              <a:t>Digital</a:t>
            </a:r>
            <a:r>
              <a:rPr sz="375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750" spc="-155" dirty="0">
                <a:solidFill>
                  <a:srgbClr val="313131"/>
                </a:solidFill>
                <a:latin typeface="Calibri"/>
                <a:cs typeface="Calibri"/>
              </a:rPr>
              <a:t>Twin</a:t>
            </a:r>
            <a:r>
              <a:rPr sz="3750" spc="-7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750" spc="-10" dirty="0">
                <a:solidFill>
                  <a:srgbClr val="2F2F2F"/>
                </a:solidFill>
                <a:latin typeface="Calibri"/>
                <a:cs typeface="Calibri"/>
              </a:rPr>
              <a:t>Ecosystem</a:t>
            </a:r>
            <a:endParaRPr sz="3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0"/>
              </a:spcBef>
            </a:pPr>
            <a:r>
              <a:rPr sz="3250" spc="-254" dirty="0">
                <a:solidFill>
                  <a:srgbClr val="282828"/>
                </a:solidFill>
                <a:latin typeface="Calibri"/>
                <a:cs typeface="Calibri"/>
              </a:rPr>
              <a:t>Moving</a:t>
            </a:r>
            <a:r>
              <a:rPr sz="3250" spc="1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50" spc="-165" dirty="0">
                <a:solidFill>
                  <a:srgbClr val="2A2A2A"/>
                </a:solidFill>
                <a:latin typeface="Calibri"/>
                <a:cs typeface="Calibri"/>
              </a:rPr>
              <a:t>beyond</a:t>
            </a:r>
            <a:r>
              <a:rPr sz="3250" spc="-2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250" spc="-130" dirty="0">
                <a:solidFill>
                  <a:srgbClr val="2A2A2A"/>
                </a:solidFill>
                <a:latin typeface="Calibri"/>
                <a:cs typeface="Calibri"/>
              </a:rPr>
              <a:t>static</a:t>
            </a:r>
            <a:r>
              <a:rPr sz="3250" spc="-5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250" spc="-150" dirty="0">
                <a:solidFill>
                  <a:srgbClr val="282828"/>
                </a:solidFill>
                <a:latin typeface="Calibri"/>
                <a:cs typeface="Calibri"/>
              </a:rPr>
              <a:t>dashboards</a:t>
            </a:r>
            <a:r>
              <a:rPr sz="3250" spc="-4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50" spc="-150" dirty="0">
                <a:solidFill>
                  <a:srgbClr val="313131"/>
                </a:solidFill>
                <a:latin typeface="Calibri"/>
                <a:cs typeface="Calibri"/>
              </a:rPr>
              <a:t>to</a:t>
            </a:r>
            <a:r>
              <a:rPr sz="3250" spc="-1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250" spc="-1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3250" spc="-1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0" dirty="0">
                <a:solidFill>
                  <a:srgbClr val="2F2F2F"/>
                </a:solidFill>
                <a:latin typeface="Calibri"/>
                <a:cs typeface="Calibri"/>
              </a:rPr>
              <a:t>living,</a:t>
            </a:r>
            <a:r>
              <a:rPr sz="3250" spc="-1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250" spc="-105" dirty="0">
                <a:solidFill>
                  <a:srgbClr val="242424"/>
                </a:solidFill>
                <a:latin typeface="Calibri"/>
                <a:cs typeface="Calibri"/>
              </a:rPr>
              <a:t>‘thinking’</a:t>
            </a:r>
            <a:r>
              <a:rPr sz="3250" spc="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250" spc="-170" dirty="0">
                <a:solidFill>
                  <a:srgbClr val="282828"/>
                </a:solidFill>
                <a:latin typeface="Calibri"/>
                <a:cs typeface="Calibri"/>
              </a:rPr>
              <a:t>operating</a:t>
            </a:r>
            <a:r>
              <a:rPr sz="3250" spc="6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50" spc="-155" dirty="0">
                <a:solidFill>
                  <a:srgbClr val="262626"/>
                </a:solidFill>
                <a:latin typeface="Calibri"/>
                <a:cs typeface="Calibri"/>
              </a:rPr>
              <a:t>system</a:t>
            </a:r>
            <a:r>
              <a:rPr sz="3250" spc="10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250" spc="-190" dirty="0">
                <a:solidFill>
                  <a:srgbClr val="2D2D2D"/>
                </a:solidFill>
                <a:latin typeface="Calibri"/>
                <a:cs typeface="Calibri"/>
              </a:rPr>
              <a:t>for</a:t>
            </a:r>
            <a:r>
              <a:rPr sz="3250" spc="-25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250" spc="-110" dirty="0">
                <a:solidFill>
                  <a:srgbClr val="2A2A2A"/>
                </a:solidFill>
                <a:latin typeface="Calibri"/>
                <a:cs typeface="Calibri"/>
              </a:rPr>
              <a:t>Almaty.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900" y="2336800"/>
            <a:ext cx="1879600" cy="1905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4000" y="2349500"/>
            <a:ext cx="698500" cy="1765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2700" y="2463800"/>
            <a:ext cx="698500" cy="1765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33400" y="2324100"/>
            <a:ext cx="1866900" cy="19431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4823" rIns="0" bIns="0" rtlCol="0">
            <a:spAutoFit/>
          </a:bodyPr>
          <a:lstStyle/>
          <a:p>
            <a:pPr marL="1647825">
              <a:lnSpc>
                <a:spcPct val="100000"/>
              </a:lnSpc>
              <a:spcBef>
                <a:spcPts val="105"/>
              </a:spcBef>
            </a:pPr>
            <a:r>
              <a:rPr sz="4300" spc="160" dirty="0">
                <a:latin typeface="Arial MT"/>
                <a:cs typeface="Arial MT"/>
              </a:rPr>
              <a:t>Almaty's</a:t>
            </a:r>
            <a:r>
              <a:rPr sz="4300" spc="-20" dirty="0">
                <a:latin typeface="Arial MT"/>
                <a:cs typeface="Arial MT"/>
              </a:rPr>
              <a:t> </a:t>
            </a:r>
            <a:r>
              <a:rPr sz="4300" spc="95" dirty="0">
                <a:latin typeface="Arial MT"/>
                <a:cs typeface="Arial MT"/>
              </a:rPr>
              <a:t>Challenge:</a:t>
            </a:r>
            <a:r>
              <a:rPr sz="4300" spc="45" dirty="0">
                <a:latin typeface="Arial MT"/>
                <a:cs typeface="Arial MT"/>
              </a:rPr>
              <a:t> </a:t>
            </a:r>
            <a:r>
              <a:rPr sz="4300" spc="145" dirty="0">
                <a:latin typeface="Arial MT"/>
                <a:cs typeface="Arial MT"/>
              </a:rPr>
              <a:t>Complexity</a:t>
            </a:r>
            <a:r>
              <a:rPr sz="4300" spc="210" dirty="0">
                <a:latin typeface="Arial MT"/>
                <a:cs typeface="Arial MT"/>
              </a:rPr>
              <a:t> </a:t>
            </a:r>
            <a:r>
              <a:rPr sz="4300" spc="200" dirty="0">
                <a:latin typeface="Arial MT"/>
                <a:cs typeface="Arial MT"/>
              </a:rPr>
              <a:t>Without</a:t>
            </a:r>
            <a:r>
              <a:rPr sz="4300" spc="140" dirty="0">
                <a:latin typeface="Arial MT"/>
                <a:cs typeface="Arial MT"/>
              </a:rPr>
              <a:t> </a:t>
            </a:r>
            <a:r>
              <a:rPr sz="4300" spc="95" dirty="0">
                <a:latin typeface="Arial MT"/>
                <a:cs typeface="Arial MT"/>
              </a:rPr>
              <a:t>Cohesion</a:t>
            </a:r>
            <a:endParaRPr sz="43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04998" y="4663383"/>
          <a:ext cx="15513684" cy="3917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12030"/>
                <a:gridCol w="5465445"/>
                <a:gridCol w="5236209"/>
              </a:tblGrid>
              <a:tr h="1202055">
                <a:tc>
                  <a:txBody>
                    <a:bodyPr/>
                    <a:lstStyle/>
                    <a:p>
                      <a:pPr marL="713740" marR="1165860" indent="1017905">
                        <a:lnSpc>
                          <a:spcPts val="3850"/>
                        </a:lnSpc>
                      </a:pPr>
                      <a:r>
                        <a:rPr sz="34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3400" spc="65" dirty="0">
                          <a:latin typeface="Arial MT"/>
                          <a:cs typeface="Arial MT"/>
                        </a:rPr>
                        <a:t>Fragmentation</a:t>
                      </a:r>
                      <a:endParaRPr sz="3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0185" marR="1357630" indent="455295">
                        <a:lnSpc>
                          <a:spcPts val="3850"/>
                        </a:lnSpc>
                      </a:pPr>
                      <a:r>
                        <a:rPr sz="3400" spc="-10" dirty="0">
                          <a:latin typeface="Arial MT"/>
                          <a:cs typeface="Arial MT"/>
                        </a:rPr>
                        <a:t>Reactive </a:t>
                      </a:r>
                      <a:r>
                        <a:rPr sz="3400" spc="60" dirty="0">
                          <a:latin typeface="Arial MT"/>
                          <a:cs typeface="Arial MT"/>
                        </a:rPr>
                        <a:t>Management</a:t>
                      </a:r>
                      <a:endParaRPr sz="3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5405" marR="808355" indent="-205740">
                        <a:lnSpc>
                          <a:spcPts val="3850"/>
                        </a:lnSpc>
                      </a:pPr>
                      <a:r>
                        <a:rPr sz="3400" spc="60" dirty="0">
                          <a:latin typeface="Arial MT"/>
                          <a:cs typeface="Arial MT"/>
                        </a:rPr>
                        <a:t>Environmental</a:t>
                      </a:r>
                      <a:r>
                        <a:rPr sz="3400" spc="1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400" spc="-50" dirty="0">
                          <a:latin typeface="Arial MT"/>
                          <a:cs typeface="Arial MT"/>
                        </a:rPr>
                        <a:t>&amp; </a:t>
                      </a:r>
                      <a:r>
                        <a:rPr sz="3400" spc="50" dirty="0">
                          <a:latin typeface="Arial MT"/>
                          <a:cs typeface="Arial MT"/>
                        </a:rPr>
                        <a:t>Seismic</a:t>
                      </a:r>
                      <a:r>
                        <a:rPr sz="3400" spc="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400" spc="55" dirty="0">
                          <a:latin typeface="Arial MT"/>
                          <a:cs typeface="Arial MT"/>
                        </a:rPr>
                        <a:t>Strain</a:t>
                      </a:r>
                      <a:endParaRPr sz="3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641985">
                <a:tc>
                  <a:txBody>
                    <a:bodyPr/>
                    <a:lstStyle/>
                    <a:p>
                      <a:pPr marR="472440"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3100" spc="-105" dirty="0">
                          <a:latin typeface="Calibri"/>
                          <a:cs typeface="Calibri"/>
                        </a:rPr>
                        <a:t>Critical</a:t>
                      </a:r>
                      <a:r>
                        <a:rPr sz="31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75" dirty="0">
                          <a:latin typeface="Calibri"/>
                          <a:cs typeface="Calibri"/>
                        </a:rPr>
                        <a:t>urban</a:t>
                      </a:r>
                      <a:r>
                        <a:rPr sz="3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6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3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0" dirty="0">
                          <a:latin typeface="Calibri"/>
                          <a:cs typeface="Calibri"/>
                        </a:rPr>
                        <a:t>from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139700"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3100" spc="-235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3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55" dirty="0">
                          <a:latin typeface="Calibri"/>
                          <a:cs typeface="Calibri"/>
                        </a:rPr>
                        <a:t>predictive</a:t>
                      </a:r>
                      <a:r>
                        <a:rPr sz="31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analytics,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301625"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3100" spc="-175" dirty="0">
                          <a:latin typeface="Calibri"/>
                          <a:cs typeface="Calibri"/>
                        </a:rPr>
                        <a:t>Almaty's</a:t>
                      </a:r>
                      <a:r>
                        <a:rPr sz="3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7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31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55" dirty="0">
                          <a:latin typeface="Calibri"/>
                          <a:cs typeface="Calibri"/>
                        </a:rPr>
                        <a:t>geography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</a:tr>
              <a:tr h="417830">
                <a:tc>
                  <a:txBody>
                    <a:bodyPr/>
                    <a:lstStyle/>
                    <a:p>
                      <a:pPr marR="464820" algn="ctr">
                        <a:lnSpc>
                          <a:spcPts val="3015"/>
                        </a:lnSpc>
                      </a:pPr>
                      <a:r>
                        <a:rPr sz="3050" spc="-135" dirty="0">
                          <a:latin typeface="Calibri"/>
                          <a:cs typeface="Calibri"/>
                        </a:rPr>
                        <a:t>transport,</a:t>
                      </a:r>
                      <a:r>
                        <a:rPr sz="30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30" dirty="0">
                          <a:latin typeface="Calibri"/>
                          <a:cs typeface="Calibri"/>
                        </a:rPr>
                        <a:t>ecology,</a:t>
                      </a:r>
                      <a:r>
                        <a:rPr sz="3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305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public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7480" algn="ctr">
                        <a:lnSpc>
                          <a:spcPts val="3015"/>
                        </a:lnSpc>
                      </a:pPr>
                      <a:r>
                        <a:rPr sz="3050" spc="-110" dirty="0">
                          <a:latin typeface="Calibri"/>
                          <a:cs typeface="Calibri"/>
                        </a:rPr>
                        <a:t>city</a:t>
                      </a:r>
                      <a:r>
                        <a:rPr sz="305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14" dirty="0"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sz="3050" spc="-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3050" spc="-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65" dirty="0">
                          <a:latin typeface="Calibri"/>
                          <a:cs typeface="Calibri"/>
                        </a:rPr>
                        <a:t>forced</a:t>
                      </a:r>
                      <a:r>
                        <a:rPr sz="30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20" dirty="0">
                          <a:latin typeface="Calibri"/>
                          <a:cs typeface="Calibri"/>
                        </a:rPr>
                        <a:t>into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910" algn="ctr">
                        <a:lnSpc>
                          <a:spcPts val="3015"/>
                        </a:lnSpc>
                      </a:pPr>
                      <a:r>
                        <a:rPr sz="3050" spc="-130" dirty="0">
                          <a:latin typeface="Calibri"/>
                          <a:cs typeface="Calibri"/>
                        </a:rPr>
                        <a:t>presents</a:t>
                      </a:r>
                      <a:r>
                        <a:rPr sz="305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35" dirty="0">
                          <a:latin typeface="Calibri"/>
                          <a:cs typeface="Calibri"/>
                        </a:rPr>
                        <a:t>persistent</a:t>
                      </a:r>
                      <a:r>
                        <a:rPr sz="305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challenges,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19100">
                <a:tc>
                  <a:txBody>
                    <a:bodyPr/>
                    <a:lstStyle/>
                    <a:p>
                      <a:pPr marR="485140" algn="ctr">
                        <a:lnSpc>
                          <a:spcPts val="3025"/>
                        </a:lnSpc>
                      </a:pPr>
                      <a:r>
                        <a:rPr sz="3050" spc="-11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3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14" dirty="0">
                          <a:latin typeface="Calibri"/>
                          <a:cs typeface="Calibri"/>
                        </a:rPr>
                        <a:t>exists</a:t>
                      </a:r>
                      <a:r>
                        <a:rPr sz="3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9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305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isolated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 algn="ctr">
                        <a:lnSpc>
                          <a:spcPts val="3025"/>
                        </a:lnSpc>
                      </a:pPr>
                      <a:r>
                        <a:rPr sz="3050" spc="-17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3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50" dirty="0">
                          <a:latin typeface="Calibri"/>
                          <a:cs typeface="Calibri"/>
                        </a:rPr>
                        <a:t>reactive</a:t>
                      </a:r>
                      <a:r>
                        <a:rPr sz="3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30" dirty="0">
                          <a:latin typeface="Calibri"/>
                          <a:cs typeface="Calibri"/>
                        </a:rPr>
                        <a:t>cycle—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addressing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algn="ctr">
                        <a:lnSpc>
                          <a:spcPts val="3025"/>
                        </a:lnSpc>
                      </a:pPr>
                      <a:r>
                        <a:rPr sz="3050" spc="-22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30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60" dirty="0">
                          <a:latin typeface="Calibri"/>
                          <a:cs typeface="Calibri"/>
                        </a:rPr>
                        <a:t>severe</a:t>
                      </a:r>
                      <a:r>
                        <a:rPr sz="305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85" dirty="0">
                          <a:latin typeface="Calibri"/>
                          <a:cs typeface="Calibri"/>
                        </a:rPr>
                        <a:t>air</a:t>
                      </a:r>
                      <a:r>
                        <a:rPr sz="3050" spc="-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quality(API)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22275">
                <a:tc>
                  <a:txBody>
                    <a:bodyPr/>
                    <a:lstStyle/>
                    <a:p>
                      <a:pPr marR="479425" algn="ctr">
                        <a:lnSpc>
                          <a:spcPts val="3025"/>
                        </a:lnSpc>
                      </a:pPr>
                      <a:r>
                        <a:rPr sz="3050" spc="-130" dirty="0">
                          <a:latin typeface="Calibri"/>
                          <a:cs typeface="Calibri"/>
                        </a:rPr>
                        <a:t>systems,</a:t>
                      </a:r>
                      <a:r>
                        <a:rPr sz="3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40" dirty="0">
                          <a:latin typeface="Calibri"/>
                          <a:cs typeface="Calibri"/>
                        </a:rPr>
                        <a:t>preventing</a:t>
                      </a:r>
                      <a:r>
                        <a:rPr sz="30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holistic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2560" algn="ctr">
                        <a:lnSpc>
                          <a:spcPts val="3025"/>
                        </a:lnSpc>
                      </a:pPr>
                      <a:r>
                        <a:rPr sz="3050" spc="-125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3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30" dirty="0">
                          <a:latin typeface="Calibri"/>
                          <a:cs typeface="Calibri"/>
                        </a:rPr>
                        <a:t>jams,</a:t>
                      </a:r>
                      <a:r>
                        <a:rPr sz="305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20" dirty="0">
                          <a:latin typeface="Calibri"/>
                          <a:cs typeface="Calibri"/>
                        </a:rPr>
                        <a:t>pollution</a:t>
                      </a:r>
                      <a:r>
                        <a:rPr sz="305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spikes,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2580" algn="ctr">
                        <a:lnSpc>
                          <a:spcPts val="3025"/>
                        </a:lnSpc>
                      </a:pPr>
                      <a:r>
                        <a:rPr sz="3050" spc="-105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305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8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05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0" dirty="0">
                          <a:latin typeface="Calibri"/>
                          <a:cs typeface="Calibri"/>
                        </a:rPr>
                        <a:t>seismic</a:t>
                      </a:r>
                      <a:r>
                        <a:rPr sz="3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risks,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421005">
                <a:tc>
                  <a:txBody>
                    <a:bodyPr/>
                    <a:lstStyle/>
                    <a:p>
                      <a:pPr marR="469265" algn="ctr">
                        <a:lnSpc>
                          <a:spcPts val="2980"/>
                        </a:lnSpc>
                      </a:pPr>
                      <a:r>
                        <a:rPr sz="2950" spc="-35" dirty="0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295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95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10" dirty="0">
                          <a:latin typeface="Calibri"/>
                          <a:cs typeface="Calibri"/>
                        </a:rPr>
                        <a:t>cross-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 algn="ctr">
                        <a:lnSpc>
                          <a:spcPts val="2980"/>
                        </a:lnSpc>
                      </a:pPr>
                      <a:r>
                        <a:rPr sz="2950" spc="-7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95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85" dirty="0">
                          <a:latin typeface="Calibri"/>
                          <a:cs typeface="Calibri"/>
                        </a:rPr>
                        <a:t>emergencies</a:t>
                      </a:r>
                      <a:r>
                        <a:rPr sz="29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7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95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10" dirty="0">
                          <a:latin typeface="Calibri"/>
                          <a:cs typeface="Calibri"/>
                        </a:rPr>
                        <a:t>after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4960" algn="ctr">
                        <a:lnSpc>
                          <a:spcPts val="2980"/>
                        </a:lnSpc>
                      </a:pPr>
                      <a:r>
                        <a:rPr sz="2950" spc="-70" dirty="0">
                          <a:latin typeface="Calibri"/>
                          <a:cs typeface="Calibri"/>
                        </a:rPr>
                        <a:t>demanding</a:t>
                      </a:r>
                      <a:r>
                        <a:rPr sz="295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950" spc="-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135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9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60" dirty="0">
                          <a:latin typeface="Calibri"/>
                          <a:cs typeface="Calibri"/>
                        </a:rPr>
                        <a:t>intelligent</a:t>
                      </a:r>
                      <a:r>
                        <a:rPr sz="295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50" spc="-25" dirty="0">
                          <a:latin typeface="Calibri"/>
                          <a:cs typeface="Calibri"/>
                        </a:rPr>
                        <a:t>and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393065">
                <a:tc>
                  <a:txBody>
                    <a:bodyPr/>
                    <a:lstStyle/>
                    <a:p>
                      <a:pPr marR="473709" algn="ctr">
                        <a:lnSpc>
                          <a:spcPts val="2950"/>
                        </a:lnSpc>
                      </a:pPr>
                      <a:r>
                        <a:rPr sz="2900" spc="-65" dirty="0">
                          <a:latin typeface="Calibri"/>
                          <a:cs typeface="Calibri"/>
                        </a:rPr>
                        <a:t>departmental</a:t>
                      </a:r>
                      <a:r>
                        <a:rPr sz="29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00" spc="-10" dirty="0">
                          <a:latin typeface="Calibri"/>
                          <a:cs typeface="Calibri"/>
                        </a:rPr>
                        <a:t>strategy.</a:t>
                      </a:r>
                      <a:endParaRPr sz="2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 algn="ctr">
                        <a:lnSpc>
                          <a:spcPts val="2950"/>
                        </a:lnSpc>
                      </a:pPr>
                      <a:r>
                        <a:rPr sz="2900" spc="-6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9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00" spc="-10" dirty="0">
                          <a:latin typeface="Calibri"/>
                          <a:cs typeface="Calibri"/>
                        </a:rPr>
                        <a:t>occur.</a:t>
                      </a:r>
                      <a:endParaRPr sz="2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6705" algn="ctr">
                        <a:lnSpc>
                          <a:spcPts val="2950"/>
                        </a:lnSpc>
                      </a:pPr>
                      <a:r>
                        <a:rPr sz="2900" spc="-60" dirty="0">
                          <a:latin typeface="Calibri"/>
                          <a:cs typeface="Calibri"/>
                        </a:rPr>
                        <a:t>proactive</a:t>
                      </a:r>
                      <a:r>
                        <a:rPr sz="29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00" spc="-55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29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900" spc="-10" dirty="0">
                          <a:latin typeface="Calibri"/>
                          <a:cs typeface="Calibri"/>
                        </a:rPr>
                        <a:t>system.</a:t>
                      </a:r>
                      <a:endParaRPr sz="2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2500" y="7620000"/>
            <a:ext cx="520700" cy="558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4400" y="2971800"/>
            <a:ext cx="596900" cy="495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7100" y="5283200"/>
            <a:ext cx="584200" cy="546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653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35"/>
              </a:spcBef>
            </a:pPr>
            <a:r>
              <a:rPr sz="5450" dirty="0">
                <a:solidFill>
                  <a:srgbClr val="03317E"/>
                </a:solidFill>
                <a:latin typeface="Arial MT"/>
                <a:cs typeface="Arial MT"/>
              </a:rPr>
              <a:t>A</a:t>
            </a:r>
            <a:r>
              <a:rPr sz="5450" spc="-20" dirty="0">
                <a:solidFill>
                  <a:srgbClr val="03317E"/>
                </a:solidFill>
                <a:latin typeface="Arial MT"/>
                <a:cs typeface="Arial MT"/>
              </a:rPr>
              <a:t> </a:t>
            </a:r>
            <a:r>
              <a:rPr sz="5450" dirty="0">
                <a:solidFill>
                  <a:srgbClr val="032D72"/>
                </a:solidFill>
                <a:latin typeface="Arial MT"/>
                <a:cs typeface="Arial MT"/>
              </a:rPr>
              <a:t>Three-Layered,</a:t>
            </a:r>
            <a:r>
              <a:rPr sz="5450" spc="-25" dirty="0">
                <a:solidFill>
                  <a:srgbClr val="032D72"/>
                </a:solidFill>
                <a:latin typeface="Arial MT"/>
                <a:cs typeface="Arial MT"/>
              </a:rPr>
              <a:t> </a:t>
            </a:r>
            <a:r>
              <a:rPr sz="5450" spc="55" dirty="0">
                <a:solidFill>
                  <a:srgbClr val="03317E"/>
                </a:solidFill>
                <a:latin typeface="Arial MT"/>
                <a:cs typeface="Arial MT"/>
              </a:rPr>
              <a:t>Asynchronous</a:t>
            </a:r>
            <a:r>
              <a:rPr sz="5450" spc="880" dirty="0">
                <a:solidFill>
                  <a:srgbClr val="03317E"/>
                </a:solidFill>
                <a:latin typeface="Arial MT"/>
                <a:cs typeface="Arial MT"/>
              </a:rPr>
              <a:t> </a:t>
            </a:r>
            <a:r>
              <a:rPr sz="5450" spc="105" dirty="0">
                <a:solidFill>
                  <a:srgbClr val="012F7E"/>
                </a:solidFill>
                <a:latin typeface="Arial MT"/>
                <a:cs typeface="Arial MT"/>
              </a:rPr>
              <a:t>Architecture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616" y="2410883"/>
            <a:ext cx="6045200" cy="1676400"/>
          </a:xfrm>
          <a:prstGeom prst="rect">
            <a:avLst/>
          </a:prstGeom>
          <a:ln w="21166">
            <a:solidFill>
              <a:srgbClr val="233B60"/>
            </a:solidFill>
          </a:ln>
        </p:spPr>
        <p:txBody>
          <a:bodyPr vert="horz" wrap="square" lIns="0" tIns="325755" rIns="0" bIns="0" rtlCol="0">
            <a:spAutoFit/>
          </a:bodyPr>
          <a:lstStyle/>
          <a:p>
            <a:pPr marL="22225" algn="ctr">
              <a:lnSpc>
                <a:spcPts val="3585"/>
              </a:lnSpc>
              <a:spcBef>
                <a:spcPts val="2565"/>
              </a:spcBef>
            </a:pPr>
            <a:r>
              <a:rPr sz="3100" spc="-75" dirty="0">
                <a:latin typeface="Arial MT"/>
                <a:cs typeface="Arial MT"/>
              </a:rPr>
              <a:t>Layer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100" dirty="0">
                <a:latin typeface="Arial MT"/>
                <a:cs typeface="Arial MT"/>
              </a:rPr>
              <a:t>1:</a:t>
            </a:r>
            <a:r>
              <a:rPr sz="3100" spc="-32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Interaction</a:t>
            </a:r>
            <a:endParaRPr sz="3100">
              <a:latin typeface="Arial MT"/>
              <a:cs typeface="Arial MT"/>
            </a:endParaRPr>
          </a:p>
          <a:p>
            <a:pPr marL="17145" algn="ctr">
              <a:lnSpc>
                <a:spcPts val="3765"/>
              </a:lnSpc>
            </a:pPr>
            <a:r>
              <a:rPr sz="3250" spc="-20" dirty="0">
                <a:latin typeface="Arial MT"/>
                <a:cs typeface="Arial MT"/>
              </a:rPr>
              <a:t>(Frontend)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6622" y="4163130"/>
            <a:ext cx="133540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65" dirty="0">
                <a:solidFill>
                  <a:srgbClr val="162849"/>
                </a:solidFill>
                <a:latin typeface="Arial MT"/>
                <a:cs typeface="Arial MT"/>
              </a:rPr>
              <a:t>Data</a:t>
            </a:r>
            <a:r>
              <a:rPr sz="2550" spc="-5" dirty="0">
                <a:solidFill>
                  <a:srgbClr val="162849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2A3D60"/>
                </a:solidFill>
                <a:latin typeface="Arial MT"/>
                <a:cs typeface="Arial MT"/>
              </a:rPr>
              <a:t>Flow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616" y="4747683"/>
            <a:ext cx="6045200" cy="1689100"/>
          </a:xfrm>
          <a:prstGeom prst="rect">
            <a:avLst/>
          </a:prstGeom>
          <a:ln w="21166">
            <a:solidFill>
              <a:srgbClr val="233B60"/>
            </a:solidFill>
          </a:ln>
        </p:spPr>
        <p:txBody>
          <a:bodyPr vert="horz" wrap="square" lIns="0" tIns="371475" rIns="0" bIns="0" rtlCol="0">
            <a:spAutoFit/>
          </a:bodyPr>
          <a:lstStyle/>
          <a:p>
            <a:pPr marL="1750695" marR="1252220" indent="-462915">
              <a:lnSpc>
                <a:spcPts val="3550"/>
              </a:lnSpc>
              <a:spcBef>
                <a:spcPts val="2925"/>
              </a:spcBef>
            </a:pPr>
            <a:r>
              <a:rPr sz="3200" spc="-85" dirty="0">
                <a:latin typeface="Arial MT"/>
                <a:cs typeface="Arial MT"/>
              </a:rPr>
              <a:t>Layer</a:t>
            </a:r>
            <a:r>
              <a:rPr sz="3200" spc="-110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2:</a:t>
            </a:r>
            <a:r>
              <a:rPr sz="3200" spc="-30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Intelligence </a:t>
            </a:r>
            <a:r>
              <a:rPr sz="3200" spc="-100" dirty="0">
                <a:latin typeface="Arial MT"/>
                <a:cs typeface="Arial MT"/>
              </a:rPr>
              <a:t>(Backend</a:t>
            </a:r>
            <a:r>
              <a:rPr sz="3200" spc="-1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AI)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6622" y="6512630"/>
            <a:ext cx="133540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65" dirty="0">
                <a:solidFill>
                  <a:srgbClr val="0C214D"/>
                </a:solidFill>
                <a:latin typeface="Arial MT"/>
                <a:cs typeface="Arial MT"/>
              </a:rPr>
              <a:t>Data</a:t>
            </a:r>
            <a:r>
              <a:rPr sz="2550" spc="-5" dirty="0">
                <a:solidFill>
                  <a:srgbClr val="0C214D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334469"/>
                </a:solidFill>
                <a:latin typeface="Arial MT"/>
                <a:cs typeface="Arial MT"/>
              </a:rPr>
              <a:t>Flow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4616" y="7097183"/>
            <a:ext cx="6045200" cy="1676400"/>
          </a:xfrm>
          <a:prstGeom prst="rect">
            <a:avLst/>
          </a:prstGeom>
          <a:ln w="21166">
            <a:solidFill>
              <a:srgbClr val="233B60"/>
            </a:solidFill>
          </a:ln>
        </p:spPr>
        <p:txBody>
          <a:bodyPr vert="horz" wrap="square" lIns="0" tIns="294005" rIns="0" bIns="0" rtlCol="0">
            <a:spAutoFit/>
          </a:bodyPr>
          <a:lstStyle/>
          <a:p>
            <a:pPr marL="27940" algn="ctr">
              <a:lnSpc>
                <a:spcPts val="3865"/>
              </a:lnSpc>
              <a:spcBef>
                <a:spcPts val="2315"/>
              </a:spcBef>
            </a:pPr>
            <a:r>
              <a:rPr sz="3400" spc="-235" dirty="0">
                <a:latin typeface="Arial MT"/>
                <a:cs typeface="Arial MT"/>
              </a:rPr>
              <a:t>Layer</a:t>
            </a:r>
            <a:r>
              <a:rPr sz="3400" dirty="0">
                <a:latin typeface="Arial MT"/>
                <a:cs typeface="Arial MT"/>
              </a:rPr>
              <a:t> </a:t>
            </a:r>
            <a:r>
              <a:rPr sz="3400" spc="-40" dirty="0">
                <a:latin typeface="Arial MT"/>
                <a:cs typeface="Arial MT"/>
              </a:rPr>
              <a:t>3:</a:t>
            </a:r>
            <a:r>
              <a:rPr sz="3400" spc="-345" dirty="0">
                <a:latin typeface="Arial MT"/>
                <a:cs typeface="Arial MT"/>
              </a:rPr>
              <a:t> </a:t>
            </a:r>
            <a:r>
              <a:rPr sz="3400" spc="-245" dirty="0">
                <a:latin typeface="Arial MT"/>
                <a:cs typeface="Arial MT"/>
              </a:rPr>
              <a:t>Data</a:t>
            </a:r>
            <a:r>
              <a:rPr sz="3400" spc="-145" dirty="0">
                <a:latin typeface="Arial MT"/>
                <a:cs typeface="Arial MT"/>
              </a:rPr>
              <a:t> </a:t>
            </a:r>
            <a:r>
              <a:rPr sz="3400" spc="-155" dirty="0">
                <a:latin typeface="Arial MT"/>
                <a:cs typeface="Arial MT"/>
              </a:rPr>
              <a:t>(Persistence</a:t>
            </a:r>
            <a:r>
              <a:rPr sz="3400" spc="80" dirty="0">
                <a:latin typeface="Arial MT"/>
                <a:cs typeface="Arial MT"/>
              </a:rPr>
              <a:t> </a:t>
            </a:r>
            <a:r>
              <a:rPr sz="3400" spc="-370" dirty="0">
                <a:latin typeface="Arial MT"/>
                <a:cs typeface="Arial MT"/>
              </a:rPr>
              <a:t>&amp;</a:t>
            </a:r>
            <a:endParaRPr sz="3400">
              <a:latin typeface="Arial MT"/>
              <a:cs typeface="Arial MT"/>
            </a:endParaRPr>
          </a:p>
          <a:p>
            <a:pPr algn="ctr">
              <a:lnSpc>
                <a:spcPts val="3745"/>
              </a:lnSpc>
            </a:pPr>
            <a:r>
              <a:rPr sz="3300" spc="-155" dirty="0">
                <a:latin typeface="Arial MT"/>
                <a:cs typeface="Arial MT"/>
              </a:rPr>
              <a:t>Real-</a:t>
            </a:r>
            <a:r>
              <a:rPr sz="3300" spc="-135" dirty="0">
                <a:latin typeface="Arial MT"/>
                <a:cs typeface="Arial MT"/>
              </a:rPr>
              <a:t>Time</a:t>
            </a:r>
            <a:r>
              <a:rPr sz="3300" spc="-5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Ingestion)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1226" y="2502605"/>
            <a:ext cx="8173084" cy="1369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>
              <a:lnSpc>
                <a:spcPts val="3595"/>
              </a:lnSpc>
              <a:spcBef>
                <a:spcPts val="95"/>
              </a:spcBef>
            </a:pPr>
            <a:r>
              <a:rPr sz="3200" spc="-10" dirty="0">
                <a:latin typeface="Calibri"/>
                <a:cs typeface="Calibri"/>
              </a:rPr>
              <a:t>Stack: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185" dirty="0">
                <a:latin typeface="Calibri"/>
                <a:cs typeface="Calibri"/>
              </a:rPr>
              <a:t>React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85" dirty="0">
                <a:latin typeface="Calibri"/>
                <a:cs typeface="Calibri"/>
              </a:rPr>
              <a:t>18,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45" dirty="0">
                <a:latin typeface="Calibri"/>
                <a:cs typeface="Calibri"/>
              </a:rPr>
              <a:t>TypeScript,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170" dirty="0">
                <a:latin typeface="Calibri"/>
                <a:cs typeface="Calibri"/>
              </a:rPr>
              <a:t>Tailwind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CSS</a:t>
            </a:r>
            <a:endParaRPr sz="3200">
              <a:latin typeface="Calibri"/>
              <a:cs typeface="Calibri"/>
            </a:endParaRPr>
          </a:p>
          <a:p>
            <a:pPr marL="15240" marR="5080" indent="-3175">
              <a:lnSpc>
                <a:spcPts val="3400"/>
              </a:lnSpc>
              <a:spcBef>
                <a:spcPts val="234"/>
              </a:spcBef>
            </a:pPr>
            <a:r>
              <a:rPr sz="3200" spc="-95" dirty="0">
                <a:latin typeface="Calibri"/>
                <a:cs typeface="Calibri"/>
              </a:rPr>
              <a:t>Function: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65" dirty="0">
                <a:latin typeface="Calibri"/>
                <a:cs typeface="Calibri"/>
              </a:rPr>
              <a:t>High-</a:t>
            </a:r>
            <a:r>
              <a:rPr sz="3200" spc="-170" dirty="0">
                <a:latin typeface="Calibri"/>
                <a:cs typeface="Calibri"/>
              </a:rPr>
              <a:t>performance,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65" dirty="0">
                <a:latin typeface="Calibri"/>
                <a:cs typeface="Calibri"/>
              </a:rPr>
              <a:t>real-</a:t>
            </a:r>
            <a:r>
              <a:rPr sz="3200" spc="-204" dirty="0">
                <a:latin typeface="Calibri"/>
                <a:cs typeface="Calibri"/>
              </a:rPr>
              <a:t>time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254" dirty="0">
                <a:latin typeface="Calibri"/>
                <a:cs typeface="Calibri"/>
              </a:rPr>
              <a:t>3D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0" dirty="0">
                <a:latin typeface="Calibri"/>
                <a:cs typeface="Calibri"/>
              </a:rPr>
              <a:t>visualization </a:t>
            </a:r>
            <a:r>
              <a:rPr sz="3200" spc="-175" dirty="0">
                <a:latin typeface="Calibri"/>
                <a:cs typeface="Calibri"/>
              </a:rPr>
              <a:t>and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75" dirty="0">
                <a:latin typeface="Calibri"/>
                <a:cs typeface="Calibri"/>
              </a:rPr>
              <a:t>interactive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dashboards.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80598" y="4638675"/>
            <a:ext cx="8143240" cy="178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320">
              <a:lnSpc>
                <a:spcPts val="3510"/>
              </a:lnSpc>
              <a:spcBef>
                <a:spcPts val="125"/>
              </a:spcBef>
            </a:pPr>
            <a:r>
              <a:rPr sz="3100" dirty="0">
                <a:latin typeface="Calibri"/>
                <a:cs typeface="Calibri"/>
              </a:rPr>
              <a:t>Stack:</a:t>
            </a:r>
            <a:r>
              <a:rPr sz="3100" spc="-100" dirty="0">
                <a:latin typeface="Calibri"/>
                <a:cs typeface="Calibri"/>
              </a:rPr>
              <a:t> </a:t>
            </a:r>
            <a:r>
              <a:rPr sz="3100" spc="-110" dirty="0">
                <a:latin typeface="Calibri"/>
                <a:cs typeface="Calibri"/>
              </a:rPr>
              <a:t>FastAPl</a:t>
            </a:r>
            <a:r>
              <a:rPr sz="3100" spc="40" dirty="0">
                <a:latin typeface="Calibri"/>
                <a:cs typeface="Calibri"/>
              </a:rPr>
              <a:t> </a:t>
            </a:r>
            <a:r>
              <a:rPr sz="3100" spc="-120" dirty="0">
                <a:latin typeface="Calibri"/>
                <a:cs typeface="Calibri"/>
              </a:rPr>
              <a:t>(Python)</a:t>
            </a:r>
            <a:r>
              <a:rPr sz="3100" spc="5" dirty="0">
                <a:latin typeface="Calibri"/>
                <a:cs typeface="Calibri"/>
              </a:rPr>
              <a:t> </a:t>
            </a:r>
            <a:r>
              <a:rPr sz="3100" spc="-135" dirty="0">
                <a:latin typeface="Calibri"/>
                <a:cs typeface="Calibri"/>
              </a:rPr>
              <a:t>for</a:t>
            </a:r>
            <a:r>
              <a:rPr sz="3100" spc="-105" dirty="0">
                <a:latin typeface="Calibri"/>
                <a:cs typeface="Calibri"/>
              </a:rPr>
              <a:t> asynchronous,</a:t>
            </a:r>
            <a:r>
              <a:rPr sz="3100" spc="60" dirty="0">
                <a:latin typeface="Calibri"/>
                <a:cs typeface="Calibri"/>
              </a:rPr>
              <a:t> </a:t>
            </a:r>
            <a:r>
              <a:rPr sz="3100" spc="-135" dirty="0">
                <a:latin typeface="Calibri"/>
                <a:cs typeface="Calibri"/>
              </a:rPr>
              <a:t>low-</a:t>
            </a:r>
            <a:r>
              <a:rPr sz="3100" spc="-10" dirty="0">
                <a:latin typeface="Calibri"/>
                <a:cs typeface="Calibri"/>
              </a:rPr>
              <a:t>latency</a:t>
            </a:r>
            <a:endParaRPr sz="3100">
              <a:latin typeface="Calibri"/>
              <a:cs typeface="Calibri"/>
            </a:endParaRPr>
          </a:p>
          <a:p>
            <a:pPr marL="16510">
              <a:lnSpc>
                <a:spcPts val="3410"/>
              </a:lnSpc>
            </a:pPr>
            <a:r>
              <a:rPr sz="3200" spc="-75" dirty="0">
                <a:latin typeface="Calibri"/>
                <a:cs typeface="Calibri"/>
              </a:rPr>
              <a:t>processing.</a:t>
            </a:r>
            <a:endParaRPr sz="3200">
              <a:latin typeface="Calibri"/>
              <a:cs typeface="Calibri"/>
            </a:endParaRPr>
          </a:p>
          <a:p>
            <a:pPr marL="12700" marR="5080" indent="1270">
              <a:lnSpc>
                <a:spcPts val="3400"/>
              </a:lnSpc>
              <a:spcBef>
                <a:spcPts val="160"/>
              </a:spcBef>
            </a:pPr>
            <a:r>
              <a:rPr sz="3100" spc="-20" dirty="0">
                <a:latin typeface="Calibri"/>
                <a:cs typeface="Calibri"/>
              </a:rPr>
              <a:t>Function:</a:t>
            </a:r>
            <a:r>
              <a:rPr sz="3100" spc="-140" dirty="0">
                <a:latin typeface="Calibri"/>
                <a:cs typeface="Calibri"/>
              </a:rPr>
              <a:t> </a:t>
            </a:r>
            <a:r>
              <a:rPr sz="3100" spc="-105" dirty="0">
                <a:latin typeface="Calibri"/>
                <a:cs typeface="Calibri"/>
              </a:rPr>
              <a:t>Hosts</a:t>
            </a:r>
            <a:r>
              <a:rPr sz="3100" spc="-20" dirty="0">
                <a:latin typeface="Calibri"/>
                <a:cs typeface="Calibri"/>
              </a:rPr>
              <a:t> </a:t>
            </a:r>
            <a:r>
              <a:rPr sz="3100" spc="-150" dirty="0">
                <a:latin typeface="Calibri"/>
                <a:cs typeface="Calibri"/>
              </a:rPr>
              <a:t>the</a:t>
            </a:r>
            <a:r>
              <a:rPr sz="3100" spc="-135" dirty="0">
                <a:latin typeface="Calibri"/>
                <a:cs typeface="Calibri"/>
              </a:rPr>
              <a:t> 12-</a:t>
            </a:r>
            <a:r>
              <a:rPr sz="3100" spc="-120" dirty="0">
                <a:latin typeface="Calibri"/>
                <a:cs typeface="Calibri"/>
              </a:rPr>
              <a:t>module</a:t>
            </a:r>
            <a:r>
              <a:rPr sz="3100" spc="120" dirty="0">
                <a:latin typeface="Calibri"/>
                <a:cs typeface="Calibri"/>
              </a:rPr>
              <a:t> </a:t>
            </a:r>
            <a:r>
              <a:rPr sz="3100" spc="-155" dirty="0">
                <a:latin typeface="Calibri"/>
                <a:cs typeface="Calibri"/>
              </a:rPr>
              <a:t>’Neural</a:t>
            </a:r>
            <a:r>
              <a:rPr sz="3100" spc="-70" dirty="0">
                <a:latin typeface="Calibri"/>
                <a:cs typeface="Calibri"/>
              </a:rPr>
              <a:t> </a:t>
            </a:r>
            <a:r>
              <a:rPr sz="3100" spc="-110" dirty="0">
                <a:latin typeface="Calibri"/>
                <a:cs typeface="Calibri"/>
              </a:rPr>
              <a:t>Brain’</a:t>
            </a:r>
            <a:r>
              <a:rPr sz="3100" spc="-105" dirty="0">
                <a:latin typeface="Calibri"/>
                <a:cs typeface="Calibri"/>
              </a:rPr>
              <a:t> </a:t>
            </a:r>
            <a:r>
              <a:rPr sz="3100" spc="-120" dirty="0">
                <a:latin typeface="Calibri"/>
                <a:cs typeface="Calibri"/>
              </a:rPr>
              <a:t>and</a:t>
            </a:r>
            <a:r>
              <a:rPr sz="3100" spc="-145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over </a:t>
            </a:r>
            <a:r>
              <a:rPr sz="3100" spc="-200" dirty="0">
                <a:latin typeface="Calibri"/>
                <a:cs typeface="Calibri"/>
              </a:rPr>
              <a:t>40</a:t>
            </a:r>
            <a:r>
              <a:rPr sz="3100" spc="-70" dirty="0">
                <a:latin typeface="Calibri"/>
                <a:cs typeface="Calibri"/>
              </a:rPr>
              <a:t> </a:t>
            </a:r>
            <a:r>
              <a:rPr sz="3100" spc="-120" dirty="0">
                <a:latin typeface="Calibri"/>
                <a:cs typeface="Calibri"/>
              </a:rPr>
              <a:t>API</a:t>
            </a:r>
            <a:r>
              <a:rPr sz="3100" spc="-114" dirty="0">
                <a:latin typeface="Calibri"/>
                <a:cs typeface="Calibri"/>
              </a:rPr>
              <a:t> </a:t>
            </a:r>
            <a:r>
              <a:rPr sz="3100" spc="-110" dirty="0">
                <a:latin typeface="Calibri"/>
                <a:cs typeface="Calibri"/>
              </a:rPr>
              <a:t>endpoints</a:t>
            </a:r>
            <a:r>
              <a:rPr sz="3100" spc="-65" dirty="0">
                <a:latin typeface="Calibri"/>
                <a:cs typeface="Calibri"/>
              </a:rPr>
              <a:t> </a:t>
            </a:r>
            <a:r>
              <a:rPr sz="3100" spc="-170" dirty="0">
                <a:latin typeface="Calibri"/>
                <a:cs typeface="Calibri"/>
              </a:rPr>
              <a:t>for</a:t>
            </a:r>
            <a:r>
              <a:rPr sz="3100" spc="-100" dirty="0">
                <a:latin typeface="Calibri"/>
                <a:cs typeface="Calibri"/>
              </a:rPr>
              <a:t> </a:t>
            </a:r>
            <a:r>
              <a:rPr sz="3100" spc="-140" dirty="0">
                <a:latin typeface="Calibri"/>
                <a:cs typeface="Calibri"/>
              </a:rPr>
              <a:t>data</a:t>
            </a:r>
            <a:r>
              <a:rPr sz="3100" spc="-35" dirty="0">
                <a:latin typeface="Calibri"/>
                <a:cs typeface="Calibri"/>
              </a:rPr>
              <a:t> </a:t>
            </a:r>
            <a:r>
              <a:rPr sz="3100" spc="-120" dirty="0">
                <a:latin typeface="Calibri"/>
                <a:cs typeface="Calibri"/>
              </a:rPr>
              <a:t>orchestration</a:t>
            </a:r>
            <a:r>
              <a:rPr sz="3100" spc="100" dirty="0">
                <a:latin typeface="Calibri"/>
                <a:cs typeface="Calibri"/>
              </a:rPr>
              <a:t> </a:t>
            </a:r>
            <a:r>
              <a:rPr sz="3100" spc="-110" dirty="0">
                <a:latin typeface="Calibri"/>
                <a:cs typeface="Calibri"/>
              </a:rPr>
              <a:t>and</a:t>
            </a:r>
            <a:r>
              <a:rPr sz="3100" spc="-6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analysis.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81226" y="7182555"/>
            <a:ext cx="7867015" cy="13760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 indent="6985">
              <a:lnSpc>
                <a:spcPts val="3400"/>
              </a:lnSpc>
              <a:spcBef>
                <a:spcPts val="575"/>
              </a:spcBef>
            </a:pPr>
            <a:r>
              <a:rPr sz="3200" spc="-25" dirty="0">
                <a:latin typeface="Calibri"/>
                <a:cs typeface="Calibri"/>
              </a:rPr>
              <a:t>Stack::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SgLite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200" dirty="0">
                <a:latin typeface="Calibri"/>
                <a:cs typeface="Calibri"/>
              </a:rPr>
              <a:t>with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40" dirty="0">
                <a:latin typeface="Calibri"/>
                <a:cs typeface="Calibri"/>
              </a:rPr>
              <a:t>30,000+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210" dirty="0">
                <a:latin typeface="Calibri"/>
                <a:cs typeface="Calibri"/>
              </a:rPr>
              <a:t>seeded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10" dirty="0">
                <a:latin typeface="Calibri"/>
                <a:cs typeface="Calibri"/>
              </a:rPr>
              <a:t>local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95" dirty="0">
                <a:latin typeface="Calibri"/>
                <a:cs typeface="Calibri"/>
              </a:rPr>
              <a:t>data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90" dirty="0">
                <a:latin typeface="Calibri"/>
                <a:cs typeface="Calibri"/>
              </a:rPr>
              <a:t>points. </a:t>
            </a:r>
            <a:r>
              <a:rPr sz="3200" spc="-95" dirty="0">
                <a:latin typeface="Calibri"/>
                <a:cs typeface="Calibri"/>
              </a:rPr>
              <a:t>Function: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20" dirty="0">
                <a:latin typeface="Calibri"/>
                <a:cs typeface="Calibri"/>
              </a:rPr>
              <a:t>Live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165" dirty="0">
                <a:latin typeface="Calibri"/>
                <a:cs typeface="Calibri"/>
              </a:rPr>
              <a:t>integration</a:t>
            </a:r>
            <a:r>
              <a:rPr sz="3200" spc="125" dirty="0">
                <a:latin typeface="Calibri"/>
                <a:cs typeface="Calibri"/>
              </a:rPr>
              <a:t> </a:t>
            </a:r>
            <a:r>
              <a:rPr sz="3200" spc="-200" dirty="0">
                <a:latin typeface="Calibri"/>
                <a:cs typeface="Calibri"/>
              </a:rPr>
              <a:t>with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80" dirty="0">
                <a:latin typeface="Calibri"/>
                <a:cs typeface="Calibri"/>
              </a:rPr>
              <a:t>external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25" dirty="0">
                <a:latin typeface="Calibri"/>
                <a:cs typeface="Calibri"/>
              </a:rPr>
              <a:t>APls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(Open- </a:t>
            </a:r>
            <a:r>
              <a:rPr sz="3200" spc="-290" dirty="0">
                <a:latin typeface="Calibri"/>
                <a:cs typeface="Calibri"/>
              </a:rPr>
              <a:t>Meteo,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15" dirty="0">
                <a:latin typeface="Calibri"/>
                <a:cs typeface="Calibri"/>
              </a:rPr>
              <a:t>OpenStreetMap)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75" dirty="0">
                <a:latin typeface="Calibri"/>
                <a:cs typeface="Calibri"/>
              </a:rPr>
              <a:t>and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35" dirty="0">
                <a:latin typeface="Calibri"/>
                <a:cs typeface="Calibri"/>
              </a:rPr>
              <a:t>loT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70" dirty="0">
                <a:latin typeface="Calibri"/>
                <a:cs typeface="Calibri"/>
              </a:rPr>
              <a:t>sensor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feeds.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4229100"/>
            <a:ext cx="4381500" cy="2387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7500" y="5956300"/>
            <a:ext cx="2463800" cy="1854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84800" y="3200400"/>
            <a:ext cx="2476500" cy="1689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26400" y="7162800"/>
            <a:ext cx="1562100" cy="1257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77200" y="4686300"/>
            <a:ext cx="1447800" cy="1422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77200" y="2590800"/>
            <a:ext cx="1460500" cy="12954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410200" y="5408083"/>
            <a:ext cx="2442845" cy="0"/>
          </a:xfrm>
          <a:custGeom>
            <a:avLst/>
            <a:gdLst/>
            <a:ahLst/>
            <a:cxnLst/>
            <a:rect l="l" t="t" r="r" b="b"/>
            <a:pathLst>
              <a:path w="2442845">
                <a:moveTo>
                  <a:pt x="0" y="0"/>
                </a:moveTo>
                <a:lnTo>
                  <a:pt x="2442633" y="0"/>
                </a:lnTo>
              </a:path>
            </a:pathLst>
          </a:custGeom>
          <a:ln w="29633">
            <a:solidFill>
              <a:srgbClr val="1F4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00750" y="261055"/>
            <a:ext cx="15186660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700" spc="75" dirty="0">
                <a:solidFill>
                  <a:srgbClr val="032A67"/>
                </a:solidFill>
              </a:rPr>
              <a:t>Core</a:t>
            </a:r>
            <a:r>
              <a:rPr sz="5700" spc="-325" dirty="0">
                <a:solidFill>
                  <a:srgbClr val="032A67"/>
                </a:solidFill>
              </a:rPr>
              <a:t> </a:t>
            </a:r>
            <a:r>
              <a:rPr sz="5700" spc="-10" dirty="0">
                <a:solidFill>
                  <a:srgbClr val="012A67"/>
                </a:solidFill>
              </a:rPr>
              <a:t>Innovation:</a:t>
            </a:r>
            <a:r>
              <a:rPr sz="5700" spc="100" dirty="0">
                <a:solidFill>
                  <a:srgbClr val="012A67"/>
                </a:solidFill>
              </a:rPr>
              <a:t> </a:t>
            </a:r>
            <a:r>
              <a:rPr sz="5700" spc="229" dirty="0">
                <a:solidFill>
                  <a:srgbClr val="032A6B"/>
                </a:solidFill>
              </a:rPr>
              <a:t>A</a:t>
            </a:r>
            <a:r>
              <a:rPr sz="5700" spc="-330" dirty="0">
                <a:solidFill>
                  <a:srgbClr val="032A6B"/>
                </a:solidFill>
              </a:rPr>
              <a:t> </a:t>
            </a:r>
            <a:r>
              <a:rPr sz="5700" dirty="0">
                <a:solidFill>
                  <a:srgbClr val="012869"/>
                </a:solidFill>
              </a:rPr>
              <a:t>Bespoke,</a:t>
            </a:r>
            <a:r>
              <a:rPr sz="5700" spc="-175" dirty="0">
                <a:solidFill>
                  <a:srgbClr val="012869"/>
                </a:solidFill>
              </a:rPr>
              <a:t> </a:t>
            </a:r>
            <a:r>
              <a:rPr sz="5700" spc="-85" dirty="0">
                <a:solidFill>
                  <a:srgbClr val="012F72"/>
                </a:solidFill>
              </a:rPr>
              <a:t>Multi-</a:t>
            </a:r>
            <a:r>
              <a:rPr sz="5700" dirty="0">
                <a:solidFill>
                  <a:srgbClr val="012F72"/>
                </a:solidFill>
              </a:rPr>
              <a:t>Modal</a:t>
            </a:r>
            <a:r>
              <a:rPr sz="5700" spc="85" dirty="0">
                <a:solidFill>
                  <a:srgbClr val="012F72"/>
                </a:solidFill>
              </a:rPr>
              <a:t> </a:t>
            </a:r>
            <a:r>
              <a:rPr sz="5700" spc="180" dirty="0">
                <a:solidFill>
                  <a:srgbClr val="032B70"/>
                </a:solidFill>
              </a:rPr>
              <a:t>AI</a:t>
            </a:r>
            <a:r>
              <a:rPr sz="5700" spc="-520" dirty="0">
                <a:solidFill>
                  <a:srgbClr val="032B70"/>
                </a:solidFill>
              </a:rPr>
              <a:t> </a:t>
            </a:r>
            <a:r>
              <a:rPr sz="5700" spc="60" dirty="0">
                <a:solidFill>
                  <a:srgbClr val="012A6D"/>
                </a:solidFill>
              </a:rPr>
              <a:t>Engine</a:t>
            </a:r>
            <a:endParaRPr sz="5700"/>
          </a:p>
        </p:txBody>
      </p:sp>
      <p:sp>
        <p:nvSpPr>
          <p:cNvPr id="10" name="object 10"/>
          <p:cNvSpPr txBox="1"/>
          <p:nvPr/>
        </p:nvSpPr>
        <p:spPr>
          <a:xfrm>
            <a:off x="593904" y="1247775"/>
            <a:ext cx="15845155" cy="28009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5400" marR="328295">
              <a:lnSpc>
                <a:spcPts val="3450"/>
              </a:lnSpc>
              <a:spcBef>
                <a:spcPts val="465"/>
              </a:spcBef>
            </a:pPr>
            <a:r>
              <a:rPr sz="3100" dirty="0">
                <a:solidFill>
                  <a:srgbClr val="282828"/>
                </a:solidFill>
                <a:latin typeface="Calibri"/>
                <a:cs typeface="Calibri"/>
              </a:rPr>
              <a:t>The</a:t>
            </a:r>
            <a:r>
              <a:rPr sz="3100" spc="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100" spc="-30" dirty="0">
                <a:solidFill>
                  <a:srgbClr val="212121"/>
                </a:solidFill>
                <a:latin typeface="Calibri"/>
                <a:cs typeface="Calibri"/>
              </a:rPr>
              <a:t>’Neural</a:t>
            </a:r>
            <a:r>
              <a:rPr sz="3100" spc="-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100" spc="-40" dirty="0">
                <a:solidFill>
                  <a:srgbClr val="262626"/>
                </a:solidFill>
                <a:latin typeface="Calibri"/>
                <a:cs typeface="Calibri"/>
              </a:rPr>
              <a:t>Brain,’</a:t>
            </a:r>
            <a:r>
              <a:rPr sz="3100" spc="-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62626"/>
                </a:solidFill>
                <a:latin typeface="Calibri"/>
                <a:cs typeface="Calibri"/>
              </a:rPr>
              <a:t>managed</a:t>
            </a:r>
            <a:r>
              <a:rPr sz="3100" spc="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1A1A1A"/>
                </a:solidFill>
                <a:latin typeface="Calibri"/>
                <a:cs typeface="Calibri"/>
              </a:rPr>
              <a:t>by</a:t>
            </a:r>
            <a:r>
              <a:rPr sz="3100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A2A2A"/>
                </a:solidFill>
                <a:latin typeface="Calibri"/>
                <a:cs typeface="Calibri"/>
              </a:rPr>
              <a:t>our</a:t>
            </a:r>
            <a:r>
              <a:rPr sz="3100" spc="-16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82828"/>
                </a:solidFill>
                <a:latin typeface="Calibri"/>
                <a:cs typeface="Calibri"/>
              </a:rPr>
              <a:t>central</a:t>
            </a:r>
            <a:r>
              <a:rPr sz="3100" spc="-4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D2D2D"/>
                </a:solidFill>
                <a:latin typeface="Calibri"/>
                <a:cs typeface="Calibri"/>
              </a:rPr>
              <a:t>’enhanced_gpt_ai.py”</a:t>
            </a:r>
            <a:r>
              <a:rPr sz="3100" spc="-10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40" dirty="0">
                <a:solidFill>
                  <a:srgbClr val="282828"/>
                </a:solidFill>
                <a:latin typeface="Calibri"/>
                <a:cs typeface="Calibri"/>
              </a:rPr>
              <a:t>orchestrator,</a:t>
            </a:r>
            <a:r>
              <a:rPr sz="3100" spc="1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82828"/>
                </a:solidFill>
                <a:latin typeface="Calibri"/>
                <a:cs typeface="Calibri"/>
              </a:rPr>
              <a:t>is</a:t>
            </a:r>
            <a:r>
              <a:rPr sz="3100" spc="-10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100" spc="55" dirty="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sz="3100" spc="-17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42424"/>
                </a:solidFill>
                <a:latin typeface="Calibri"/>
                <a:cs typeface="Calibri"/>
              </a:rPr>
              <a:t>purpose-built </a:t>
            </a:r>
            <a:r>
              <a:rPr sz="3100" dirty="0">
                <a:solidFill>
                  <a:srgbClr val="232323"/>
                </a:solidFill>
                <a:latin typeface="Calibri"/>
                <a:cs typeface="Calibri"/>
              </a:rPr>
              <a:t>system</a:t>
            </a:r>
            <a:r>
              <a:rPr sz="31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242424"/>
                </a:solidFill>
                <a:latin typeface="Calibri"/>
                <a:cs typeface="Calibri"/>
              </a:rPr>
              <a:t>for</a:t>
            </a:r>
            <a:r>
              <a:rPr sz="3100" spc="-6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62626"/>
                </a:solidFill>
                <a:latin typeface="Calibri"/>
                <a:cs typeface="Calibri"/>
              </a:rPr>
              <a:t>urban</a:t>
            </a:r>
            <a:r>
              <a:rPr sz="3100" spc="-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232323"/>
                </a:solidFill>
                <a:latin typeface="Calibri"/>
                <a:cs typeface="Calibri"/>
              </a:rPr>
              <a:t>context,</a:t>
            </a:r>
            <a:r>
              <a:rPr sz="31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62626"/>
                </a:solidFill>
                <a:latin typeface="Calibri"/>
                <a:cs typeface="Calibri"/>
              </a:rPr>
              <a:t>not</a:t>
            </a:r>
            <a:r>
              <a:rPr sz="3100" spc="-10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100" spc="55" dirty="0">
                <a:solidFill>
                  <a:srgbClr val="313131"/>
                </a:solidFill>
                <a:latin typeface="Calibri"/>
                <a:cs typeface="Calibri"/>
              </a:rPr>
              <a:t>a</a:t>
            </a:r>
            <a:r>
              <a:rPr sz="3100" spc="-1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42424"/>
                </a:solidFill>
                <a:latin typeface="Calibri"/>
                <a:cs typeface="Calibri"/>
              </a:rPr>
              <a:t>simple</a:t>
            </a:r>
            <a:r>
              <a:rPr sz="3100" spc="-114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262626"/>
                </a:solidFill>
                <a:latin typeface="Calibri"/>
                <a:cs typeface="Calibri"/>
              </a:rPr>
              <a:t>API</a:t>
            </a:r>
            <a:r>
              <a:rPr sz="3100" spc="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212121"/>
                </a:solidFill>
                <a:latin typeface="Calibri"/>
                <a:cs typeface="Calibri"/>
              </a:rPr>
              <a:t>call.</a:t>
            </a:r>
            <a:endParaRPr sz="3100">
              <a:latin typeface="Calibri"/>
              <a:cs typeface="Calibri"/>
            </a:endParaRPr>
          </a:p>
          <a:p>
            <a:pPr marL="9331325">
              <a:lnSpc>
                <a:spcPct val="100000"/>
              </a:lnSpc>
              <a:spcBef>
                <a:spcPts val="2460"/>
              </a:spcBef>
            </a:pPr>
            <a:r>
              <a:rPr sz="2900" spc="300" dirty="0">
                <a:solidFill>
                  <a:srgbClr val="031334"/>
                </a:solidFill>
                <a:latin typeface="Calibri"/>
                <a:cs typeface="Calibri"/>
              </a:rPr>
              <a:t>LSTN</a:t>
            </a:r>
            <a:r>
              <a:rPr sz="2900" spc="-40" dirty="0">
                <a:solidFill>
                  <a:srgbClr val="031334"/>
                </a:solidFill>
                <a:latin typeface="Calibri"/>
                <a:cs typeface="Calibri"/>
              </a:rPr>
              <a:t> </a:t>
            </a:r>
            <a:r>
              <a:rPr sz="2900" spc="135" dirty="0">
                <a:solidFill>
                  <a:srgbClr val="051331"/>
                </a:solidFill>
                <a:latin typeface="Calibri"/>
                <a:cs typeface="Calibri"/>
              </a:rPr>
              <a:t>Intent</a:t>
            </a:r>
            <a:r>
              <a:rPr sz="2900" spc="15" dirty="0">
                <a:solidFill>
                  <a:srgbClr val="051331"/>
                </a:solidFill>
                <a:latin typeface="Calibri"/>
                <a:cs typeface="Calibri"/>
              </a:rPr>
              <a:t> </a:t>
            </a:r>
            <a:r>
              <a:rPr sz="2900" spc="130" dirty="0">
                <a:solidFill>
                  <a:srgbClr val="03112F"/>
                </a:solidFill>
                <a:latin typeface="Calibri"/>
                <a:cs typeface="Calibri"/>
              </a:rPr>
              <a:t>Classifier</a:t>
            </a:r>
            <a:endParaRPr sz="2900">
              <a:latin typeface="Calibri"/>
              <a:cs typeface="Calibri"/>
            </a:endParaRPr>
          </a:p>
          <a:p>
            <a:pPr marL="9331960" marR="43180">
              <a:lnSpc>
                <a:spcPts val="2800"/>
              </a:lnSpc>
              <a:spcBef>
                <a:spcPts val="280"/>
              </a:spcBef>
            </a:pPr>
            <a:r>
              <a:rPr sz="2400" spc="-14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fine-</a:t>
            </a:r>
            <a:r>
              <a:rPr sz="2400" spc="-25" dirty="0">
                <a:latin typeface="Calibri"/>
                <a:cs typeface="Calibri"/>
              </a:rPr>
              <a:t>tuned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LSTM</a:t>
            </a:r>
            <a:r>
              <a:rPr sz="2400" spc="-100" dirty="0">
                <a:latin typeface="Calibri"/>
                <a:cs typeface="Calibri"/>
              </a:rPr>
              <a:t> V2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achieves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A0602B"/>
                </a:solidFill>
                <a:latin typeface="Calibri"/>
                <a:cs typeface="Calibri"/>
              </a:rPr>
              <a:t>over</a:t>
            </a:r>
            <a:r>
              <a:rPr sz="2400" spc="60" dirty="0">
                <a:solidFill>
                  <a:srgbClr val="A0602B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AE6B34"/>
                </a:solidFill>
                <a:latin typeface="Calibri"/>
                <a:cs typeface="Calibri"/>
              </a:rPr>
              <a:t>85</a:t>
            </a:r>
            <a:r>
              <a:rPr sz="2175" spc="-15" baseline="26819" dirty="0">
                <a:solidFill>
                  <a:srgbClr val="AE6B34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AE6B34"/>
                </a:solidFill>
                <a:latin typeface="Calibri"/>
                <a:cs typeface="Calibri"/>
              </a:rPr>
              <a:t>/o </a:t>
            </a:r>
            <a:r>
              <a:rPr sz="2550" spc="-25" dirty="0">
                <a:solidFill>
                  <a:srgbClr val="AF703B"/>
                </a:solidFill>
                <a:latin typeface="Calibri"/>
                <a:cs typeface="Calibri"/>
              </a:rPr>
              <a:t>accuracy</a:t>
            </a:r>
            <a:r>
              <a:rPr sz="2550" spc="-40" dirty="0">
                <a:solidFill>
                  <a:srgbClr val="AF703B"/>
                </a:solidFill>
                <a:latin typeface="Calibri"/>
                <a:cs typeface="Calibri"/>
              </a:rPr>
              <a:t> </a:t>
            </a:r>
            <a:r>
              <a:rPr sz="2550" spc="-70" dirty="0">
                <a:latin typeface="Calibri"/>
                <a:cs typeface="Calibri"/>
              </a:rPr>
              <a:t>in</a:t>
            </a:r>
            <a:r>
              <a:rPr sz="2550" spc="-130" dirty="0">
                <a:latin typeface="Calibri"/>
                <a:cs typeface="Calibri"/>
              </a:rPr>
              <a:t> </a:t>
            </a:r>
            <a:r>
              <a:rPr sz="2550" spc="-50" dirty="0">
                <a:latin typeface="Calibri"/>
                <a:cs typeface="Calibri"/>
              </a:rPr>
              <a:t>classifying</a:t>
            </a:r>
            <a:r>
              <a:rPr sz="2550" spc="25" dirty="0">
                <a:latin typeface="Calibri"/>
                <a:cs typeface="Calibri"/>
              </a:rPr>
              <a:t> </a:t>
            </a:r>
            <a:r>
              <a:rPr sz="2550" spc="-90" dirty="0">
                <a:latin typeface="Calibri"/>
                <a:cs typeface="Calibri"/>
              </a:rPr>
              <a:t>citizen</a:t>
            </a:r>
            <a:r>
              <a:rPr sz="2550" spc="-80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requests,</a:t>
            </a:r>
            <a:r>
              <a:rPr sz="2550" spc="-10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routing</a:t>
            </a:r>
            <a:r>
              <a:rPr sz="2550" spc="-45" dirty="0">
                <a:latin typeface="Calibri"/>
                <a:cs typeface="Calibri"/>
              </a:rPr>
              <a:t> </a:t>
            </a:r>
            <a:r>
              <a:rPr sz="2550" spc="-20" dirty="0">
                <a:latin typeface="Calibri"/>
                <a:cs typeface="Calibri"/>
              </a:rPr>
              <a:t>them </a:t>
            </a:r>
            <a:r>
              <a:rPr sz="2600" spc="-145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65" dirty="0">
                <a:latin typeface="Calibri"/>
                <a:cs typeface="Calibri"/>
              </a:rPr>
              <a:t>the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30" dirty="0">
                <a:latin typeface="Calibri"/>
                <a:cs typeface="Calibri"/>
              </a:rPr>
              <a:t>correct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70" dirty="0">
                <a:latin typeface="Calibri"/>
                <a:cs typeface="Calibri"/>
              </a:rPr>
              <a:t>city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14" dirty="0">
                <a:latin typeface="Calibri"/>
                <a:cs typeface="Calibri"/>
              </a:rPr>
              <a:t>service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module.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7447" y="5133975"/>
            <a:ext cx="352044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50" dirty="0">
                <a:solidFill>
                  <a:srgbClr val="08132A"/>
                </a:solidFill>
                <a:latin typeface="Calibri"/>
                <a:cs typeface="Calibri"/>
              </a:rPr>
              <a:t>*enhanced_gpt_ai.py”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05705" y="4595636"/>
            <a:ext cx="6751955" cy="16059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415">
              <a:lnSpc>
                <a:spcPts val="3875"/>
              </a:lnSpc>
              <a:spcBef>
                <a:spcPts val="110"/>
              </a:spcBef>
            </a:pPr>
            <a:r>
              <a:rPr sz="3250" spc="-20" dirty="0">
                <a:solidFill>
                  <a:srgbClr val="011338"/>
                </a:solidFill>
                <a:latin typeface="Calibri"/>
                <a:cs typeface="Calibri"/>
              </a:rPr>
              <a:t>Vision</a:t>
            </a:r>
            <a:r>
              <a:rPr sz="3250" spc="-120" dirty="0">
                <a:solidFill>
                  <a:srgbClr val="011338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08183A"/>
                </a:solidFill>
                <a:latin typeface="Calibri"/>
                <a:cs typeface="Calibri"/>
              </a:rPr>
              <a:t>Engine</a:t>
            </a:r>
            <a:endParaRPr sz="3250">
              <a:latin typeface="Calibri"/>
              <a:cs typeface="Calibri"/>
            </a:endParaRPr>
          </a:p>
          <a:p>
            <a:pPr marL="12700" marR="5080" indent="11430">
              <a:lnSpc>
                <a:spcPct val="87500"/>
              </a:lnSpc>
              <a:spcBef>
                <a:spcPts val="350"/>
              </a:spcBef>
            </a:pPr>
            <a:r>
              <a:rPr sz="2500" spc="-60" dirty="0">
                <a:latin typeface="Calibri"/>
                <a:cs typeface="Calibri"/>
              </a:rPr>
              <a:t>Utilizes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95" dirty="0">
                <a:latin typeface="Calibri"/>
                <a:cs typeface="Calibri"/>
              </a:rPr>
              <a:t>computer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30" dirty="0">
                <a:latin typeface="Calibri"/>
                <a:cs typeface="Calibri"/>
              </a:rPr>
              <a:t>vision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85" dirty="0">
                <a:latin typeface="Calibri"/>
                <a:cs typeface="Calibri"/>
              </a:rPr>
              <a:t>to</a:t>
            </a:r>
            <a:r>
              <a:rPr sz="2500" spc="-145" dirty="0">
                <a:latin typeface="Calibri"/>
                <a:cs typeface="Calibri"/>
              </a:rPr>
              <a:t> </a:t>
            </a:r>
            <a:r>
              <a:rPr sz="2500" spc="-65" dirty="0">
                <a:latin typeface="Calibri"/>
                <a:cs typeface="Calibri"/>
              </a:rPr>
              <a:t>analyze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75" dirty="0">
                <a:latin typeface="Calibri"/>
                <a:cs typeface="Calibri"/>
              </a:rPr>
              <a:t>user-</a:t>
            </a:r>
            <a:r>
              <a:rPr sz="2500" spc="-10" dirty="0">
                <a:latin typeface="Calibri"/>
                <a:cs typeface="Calibri"/>
              </a:rPr>
              <a:t>submitted </a:t>
            </a:r>
            <a:r>
              <a:rPr sz="2700" spc="-190" dirty="0">
                <a:latin typeface="Calibri"/>
                <a:cs typeface="Calibri"/>
              </a:rPr>
              <a:t>photos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60" dirty="0">
                <a:latin typeface="Calibri"/>
                <a:cs typeface="Calibri"/>
              </a:rPr>
              <a:t>of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spc="-190" dirty="0">
                <a:latin typeface="Calibri"/>
                <a:cs typeface="Calibri"/>
              </a:rPr>
              <a:t>urban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0" dirty="0">
                <a:latin typeface="Calibri"/>
                <a:cs typeface="Calibri"/>
              </a:rPr>
              <a:t>issues(e.g.,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160" dirty="0">
                <a:latin typeface="Calibri"/>
                <a:cs typeface="Calibri"/>
              </a:rPr>
              <a:t>potholes,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95" dirty="0">
                <a:latin typeface="Calibri"/>
                <a:cs typeface="Calibri"/>
              </a:rPr>
              <a:t>illegal</a:t>
            </a:r>
            <a:r>
              <a:rPr sz="2700" spc="-165" dirty="0">
                <a:latin typeface="Calibri"/>
                <a:cs typeface="Calibri"/>
              </a:rPr>
              <a:t> </a:t>
            </a:r>
            <a:r>
              <a:rPr sz="2700" spc="-120" dirty="0">
                <a:latin typeface="Calibri"/>
                <a:cs typeface="Calibri"/>
              </a:rPr>
              <a:t>dumping), </a:t>
            </a:r>
            <a:r>
              <a:rPr sz="2600" spc="-105" dirty="0">
                <a:latin typeface="Calibri"/>
                <a:cs typeface="Calibri"/>
              </a:rPr>
              <a:t>automatically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spc="-95" dirty="0">
                <a:latin typeface="Calibri"/>
                <a:cs typeface="Calibri"/>
              </a:rPr>
              <a:t>tagging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60" dirty="0">
                <a:latin typeface="Calibri"/>
                <a:cs typeface="Calibri"/>
              </a:rPr>
              <a:t>them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30" dirty="0">
                <a:latin typeface="Calibri"/>
                <a:cs typeface="Calibri"/>
              </a:rPr>
              <a:t>with</a:t>
            </a:r>
            <a:r>
              <a:rPr sz="2600" spc="-155" dirty="0">
                <a:latin typeface="Calibri"/>
                <a:cs typeface="Calibri"/>
              </a:rPr>
              <a:t> </a:t>
            </a:r>
            <a:r>
              <a:rPr sz="2600" spc="-100" dirty="0">
                <a:latin typeface="Calibri"/>
                <a:cs typeface="Calibri"/>
              </a:rPr>
              <a:t>location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45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85" dirty="0">
                <a:latin typeface="Calibri"/>
                <a:cs typeface="Calibri"/>
              </a:rPr>
              <a:t>category.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09636" y="6826955"/>
            <a:ext cx="6710680" cy="1944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ts val="3795"/>
              </a:lnSpc>
              <a:spcBef>
                <a:spcPts val="95"/>
              </a:spcBef>
            </a:pPr>
            <a:r>
              <a:rPr sz="3200" spc="-25" dirty="0">
                <a:solidFill>
                  <a:srgbClr val="05152F"/>
                </a:solidFill>
                <a:latin typeface="Calibri"/>
                <a:cs typeface="Calibri"/>
              </a:rPr>
              <a:t>Grounded</a:t>
            </a:r>
            <a:r>
              <a:rPr sz="3200" spc="-114" dirty="0">
                <a:solidFill>
                  <a:srgbClr val="05152F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05132F"/>
                </a:solidFill>
                <a:latin typeface="Calibri"/>
                <a:cs typeface="Calibri"/>
              </a:rPr>
              <a:t>RAG</a:t>
            </a:r>
            <a:r>
              <a:rPr sz="3200" spc="-120" dirty="0">
                <a:solidFill>
                  <a:srgbClr val="05132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5152F"/>
                </a:solidFill>
                <a:latin typeface="Calibri"/>
                <a:cs typeface="Calibri"/>
              </a:rPr>
              <a:t>Pipeline</a:t>
            </a:r>
            <a:endParaRPr sz="3200">
              <a:latin typeface="Calibri"/>
              <a:cs typeface="Calibri"/>
            </a:endParaRPr>
          </a:p>
          <a:p>
            <a:pPr marL="12700" marR="5080" indent="3175">
              <a:lnSpc>
                <a:spcPct val="90400"/>
              </a:lnSpc>
              <a:spcBef>
                <a:spcPts val="245"/>
              </a:spcBef>
            </a:pPr>
            <a:r>
              <a:rPr sz="2550" spc="-245" dirty="0">
                <a:latin typeface="Calibri"/>
                <a:cs typeface="Calibri"/>
              </a:rPr>
              <a:t>A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sz="2550" spc="-85" dirty="0">
                <a:latin typeface="Calibri"/>
                <a:cs typeface="Calibri"/>
              </a:rPr>
              <a:t>Retrieval-</a:t>
            </a:r>
            <a:r>
              <a:rPr sz="2550" spc="-120" dirty="0">
                <a:latin typeface="Calibri"/>
                <a:cs typeface="Calibri"/>
              </a:rPr>
              <a:t>Augmented</a:t>
            </a:r>
            <a:r>
              <a:rPr sz="2550" spc="-254" dirty="0">
                <a:latin typeface="Calibri"/>
                <a:cs typeface="Calibri"/>
              </a:rPr>
              <a:t> </a:t>
            </a:r>
            <a:r>
              <a:rPr sz="2550" spc="-135" dirty="0">
                <a:latin typeface="Calibri"/>
                <a:cs typeface="Calibri"/>
              </a:rPr>
              <a:t>Generation</a:t>
            </a:r>
            <a:r>
              <a:rPr sz="2550" spc="65" dirty="0">
                <a:latin typeface="Calibri"/>
                <a:cs typeface="Calibri"/>
              </a:rPr>
              <a:t> </a:t>
            </a:r>
            <a:r>
              <a:rPr sz="2550" spc="-90" dirty="0">
                <a:latin typeface="Calibri"/>
                <a:cs typeface="Calibri"/>
              </a:rPr>
              <a:t>model</a:t>
            </a:r>
            <a:r>
              <a:rPr sz="2550" spc="-135" dirty="0">
                <a:latin typeface="Calibri"/>
                <a:cs typeface="Calibri"/>
              </a:rPr>
              <a:t> </a:t>
            </a:r>
            <a:r>
              <a:rPr sz="2550" spc="-90" dirty="0">
                <a:latin typeface="Calibri"/>
                <a:cs typeface="Calibri"/>
              </a:rPr>
              <a:t>that</a:t>
            </a:r>
            <a:r>
              <a:rPr sz="2550" spc="15" dirty="0">
                <a:latin typeface="Calibri"/>
                <a:cs typeface="Calibri"/>
              </a:rPr>
              <a:t> </a:t>
            </a:r>
            <a:r>
              <a:rPr sz="2550" spc="-40" dirty="0">
                <a:latin typeface="Calibri"/>
                <a:cs typeface="Calibri"/>
              </a:rPr>
              <a:t>grounds </a:t>
            </a:r>
            <a:r>
              <a:rPr sz="2600" spc="-65" dirty="0">
                <a:latin typeface="Calibri"/>
                <a:cs typeface="Calibri"/>
              </a:rPr>
              <a:t>its</a:t>
            </a:r>
            <a:r>
              <a:rPr sz="2600" spc="-135" dirty="0">
                <a:latin typeface="Calibri"/>
                <a:cs typeface="Calibri"/>
              </a:rPr>
              <a:t> </a:t>
            </a:r>
            <a:r>
              <a:rPr sz="2600" spc="-125" dirty="0">
                <a:latin typeface="Calibri"/>
                <a:cs typeface="Calibri"/>
              </a:rPr>
              <a:t>responses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95" dirty="0">
                <a:latin typeface="Calibri"/>
                <a:cs typeface="Calibri"/>
              </a:rPr>
              <a:t>using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a</a:t>
            </a:r>
            <a:r>
              <a:rPr sz="2600" spc="-215" dirty="0">
                <a:latin typeface="Calibri"/>
                <a:cs typeface="Calibri"/>
              </a:rPr>
              <a:t> </a:t>
            </a:r>
            <a:r>
              <a:rPr sz="2600" spc="-114" dirty="0">
                <a:latin typeface="Calibri"/>
                <a:cs typeface="Calibri"/>
              </a:rPr>
              <a:t>verified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75" dirty="0">
                <a:latin typeface="Calibri"/>
                <a:cs typeface="Calibri"/>
              </a:rPr>
              <a:t>local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40" dirty="0">
                <a:latin typeface="Calibri"/>
                <a:cs typeface="Calibri"/>
              </a:rPr>
              <a:t>knowledge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spc="-120" dirty="0">
                <a:latin typeface="Calibri"/>
                <a:cs typeface="Calibri"/>
              </a:rPr>
              <a:t>base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500" spc="-95" dirty="0">
                <a:latin typeface="Calibri"/>
                <a:cs typeface="Calibri"/>
              </a:rPr>
              <a:t>Almaty's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60" dirty="0">
                <a:latin typeface="Calibri"/>
                <a:cs typeface="Calibri"/>
              </a:rPr>
              <a:t>laws,</a:t>
            </a:r>
            <a:r>
              <a:rPr sz="2500" spc="-114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public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75" dirty="0">
                <a:latin typeface="Calibri"/>
                <a:cs typeface="Calibri"/>
              </a:rPr>
              <a:t>transport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95" dirty="0">
                <a:latin typeface="Calibri"/>
                <a:cs typeface="Calibri"/>
              </a:rPr>
              <a:t>routes,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95" dirty="0">
                <a:latin typeface="Calibri"/>
                <a:cs typeface="Calibri"/>
              </a:rPr>
              <a:t>and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historical </a:t>
            </a:r>
            <a:r>
              <a:rPr sz="2550" spc="-95" dirty="0">
                <a:latin typeface="Calibri"/>
                <a:cs typeface="Calibri"/>
              </a:rPr>
              <a:t>data,</a:t>
            </a:r>
            <a:r>
              <a:rPr sz="2550" spc="-170" dirty="0">
                <a:latin typeface="Calibri"/>
                <a:cs typeface="Calibri"/>
              </a:rPr>
              <a:t> </a:t>
            </a:r>
            <a:r>
              <a:rPr sz="2550" spc="-90" dirty="0">
                <a:latin typeface="Calibri"/>
                <a:cs typeface="Calibri"/>
              </a:rPr>
              <a:t>ensuring</a:t>
            </a:r>
            <a:r>
              <a:rPr sz="2550" spc="20" dirty="0">
                <a:latin typeface="Calibri"/>
                <a:cs typeface="Calibri"/>
              </a:rPr>
              <a:t> </a:t>
            </a:r>
            <a:r>
              <a:rPr sz="2550" spc="-90" dirty="0">
                <a:latin typeface="Calibri"/>
                <a:cs typeface="Calibri"/>
              </a:rPr>
              <a:t>accuracy</a:t>
            </a:r>
            <a:r>
              <a:rPr sz="2550" spc="25" dirty="0">
                <a:latin typeface="Calibri"/>
                <a:cs typeface="Calibri"/>
              </a:rPr>
              <a:t> </a:t>
            </a:r>
            <a:r>
              <a:rPr sz="2550" spc="-114" dirty="0">
                <a:latin typeface="Calibri"/>
                <a:cs typeface="Calibri"/>
              </a:rPr>
              <a:t>and</a:t>
            </a:r>
            <a:r>
              <a:rPr sz="2550" spc="-70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preventing</a:t>
            </a:r>
            <a:r>
              <a:rPr sz="2550" spc="2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hallucination.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623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30"/>
              </a:spcBef>
            </a:pPr>
            <a:r>
              <a:rPr sz="4900" spc="120" dirty="0"/>
              <a:t>The</a:t>
            </a:r>
            <a:r>
              <a:rPr sz="4900" spc="-95" dirty="0"/>
              <a:t> </a:t>
            </a:r>
            <a:r>
              <a:rPr sz="4900" dirty="0"/>
              <a:t>Operating</a:t>
            </a:r>
            <a:r>
              <a:rPr sz="4900" spc="395" dirty="0"/>
              <a:t> </a:t>
            </a:r>
            <a:r>
              <a:rPr sz="4900" spc="75" dirty="0"/>
              <a:t>Center:</a:t>
            </a:r>
            <a:r>
              <a:rPr sz="4900" spc="90" dirty="0"/>
              <a:t> </a:t>
            </a:r>
            <a:r>
              <a:rPr sz="4900" spc="280" dirty="0"/>
              <a:t>A</a:t>
            </a:r>
            <a:r>
              <a:rPr sz="4900" spc="-250" dirty="0"/>
              <a:t> </a:t>
            </a:r>
            <a:r>
              <a:rPr sz="4900" spc="95" dirty="0"/>
              <a:t>Real-</a:t>
            </a:r>
            <a:r>
              <a:rPr sz="4900" spc="114" dirty="0"/>
              <a:t>Time</a:t>
            </a:r>
            <a:r>
              <a:rPr sz="4900" spc="120" dirty="0"/>
              <a:t> </a:t>
            </a:r>
            <a:r>
              <a:rPr sz="4900" spc="70" dirty="0"/>
              <a:t>View</a:t>
            </a:r>
            <a:r>
              <a:rPr sz="4900" spc="5" dirty="0"/>
              <a:t> </a:t>
            </a:r>
            <a:r>
              <a:rPr sz="4900" dirty="0"/>
              <a:t>of</a:t>
            </a:r>
            <a:r>
              <a:rPr sz="4900" spc="-25" dirty="0"/>
              <a:t> </a:t>
            </a:r>
            <a:r>
              <a:rPr sz="4900" spc="60" dirty="0"/>
              <a:t>the</a:t>
            </a:r>
            <a:r>
              <a:rPr sz="4900" spc="-120" dirty="0"/>
              <a:t> </a:t>
            </a:r>
            <a:r>
              <a:rPr sz="4900" spc="145" dirty="0"/>
              <a:t>City</a:t>
            </a:r>
            <a:endParaRPr sz="4900"/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83210" marR="10160" indent="-269875">
              <a:lnSpc>
                <a:spcPct val="95000"/>
              </a:lnSpc>
              <a:spcBef>
                <a:spcPts val="270"/>
              </a:spcBef>
              <a:buClr>
                <a:srgbClr val="0C2A67"/>
              </a:buClr>
              <a:buChar char="•"/>
              <a:tabLst>
                <a:tab pos="284480" algn="l"/>
              </a:tabLst>
            </a:pPr>
            <a:r>
              <a:rPr sz="2550" dirty="0">
                <a:solidFill>
                  <a:srgbClr val="0E214B"/>
                </a:solidFill>
              </a:rPr>
              <a:t>City</a:t>
            </a:r>
            <a:r>
              <a:rPr sz="2550" spc="-100" dirty="0">
                <a:solidFill>
                  <a:srgbClr val="0E214B"/>
                </a:solidFill>
              </a:rPr>
              <a:t> </a:t>
            </a:r>
            <a:r>
              <a:rPr sz="2550" dirty="0">
                <a:solidFill>
                  <a:srgbClr val="071F4F"/>
                </a:solidFill>
              </a:rPr>
              <a:t>Health</a:t>
            </a:r>
            <a:r>
              <a:rPr sz="2550" spc="-20" dirty="0">
                <a:solidFill>
                  <a:srgbClr val="071F4F"/>
                </a:solidFill>
              </a:rPr>
              <a:t> </a:t>
            </a:r>
            <a:r>
              <a:rPr sz="2550" dirty="0">
                <a:solidFill>
                  <a:srgbClr val="0E2656"/>
                </a:solidFill>
              </a:rPr>
              <a:t>Index</a:t>
            </a:r>
            <a:r>
              <a:rPr sz="2550" spc="-35" dirty="0">
                <a:solidFill>
                  <a:srgbClr val="0E2656"/>
                </a:solidFill>
              </a:rPr>
              <a:t> </a:t>
            </a:r>
            <a:r>
              <a:rPr sz="2550" dirty="0">
                <a:solidFill>
                  <a:srgbClr val="0F264B"/>
                </a:solidFill>
              </a:rPr>
              <a:t>(CHI):</a:t>
            </a:r>
            <a:r>
              <a:rPr sz="2550" spc="-120" dirty="0">
                <a:solidFill>
                  <a:srgbClr val="0F264B"/>
                </a:solidFill>
              </a:rPr>
              <a:t> </a:t>
            </a:r>
            <a:r>
              <a:rPr sz="2550" spc="-140" dirty="0"/>
              <a:t>A</a:t>
            </a:r>
            <a:r>
              <a:rPr sz="2550" spc="-100" dirty="0"/>
              <a:t> </a:t>
            </a:r>
            <a:r>
              <a:rPr sz="2550" spc="-80" dirty="0"/>
              <a:t>composite</a:t>
            </a:r>
            <a:r>
              <a:rPr sz="2550" spc="70" dirty="0"/>
              <a:t> </a:t>
            </a:r>
            <a:r>
              <a:rPr sz="2550" spc="-10" dirty="0"/>
              <a:t>score 	</a:t>
            </a:r>
            <a:r>
              <a:rPr spc="-45" dirty="0"/>
              <a:t>aggregating</a:t>
            </a:r>
            <a:r>
              <a:rPr spc="-10" dirty="0"/>
              <a:t> </a:t>
            </a:r>
            <a:r>
              <a:rPr spc="-70" dirty="0"/>
              <a:t>real-</a:t>
            </a:r>
            <a:r>
              <a:rPr spc="-60" dirty="0"/>
              <a:t>time</a:t>
            </a:r>
            <a:r>
              <a:rPr spc="-75" dirty="0"/>
              <a:t> </a:t>
            </a:r>
            <a:r>
              <a:rPr spc="-55" dirty="0"/>
              <a:t>data</a:t>
            </a:r>
            <a:r>
              <a:rPr spc="-105" dirty="0"/>
              <a:t> </a:t>
            </a:r>
            <a:r>
              <a:rPr spc="-80" dirty="0"/>
              <a:t>from</a:t>
            </a:r>
            <a:r>
              <a:rPr spc="-15" dirty="0"/>
              <a:t> </a:t>
            </a:r>
            <a:r>
              <a:rPr spc="-10" dirty="0"/>
              <a:t>transport, 	</a:t>
            </a:r>
            <a:r>
              <a:rPr sz="2400" spc="-10" dirty="0"/>
              <a:t>eco(ogy,</a:t>
            </a:r>
            <a:r>
              <a:rPr sz="2400" spc="-15" dirty="0"/>
              <a:t> </a:t>
            </a:r>
            <a:r>
              <a:rPr sz="2400" dirty="0"/>
              <a:t>and</a:t>
            </a:r>
            <a:r>
              <a:rPr sz="2400" spc="5" dirty="0"/>
              <a:t> </a:t>
            </a:r>
            <a:r>
              <a:rPr sz="2400" dirty="0"/>
              <a:t>public</a:t>
            </a:r>
            <a:r>
              <a:rPr sz="2400" spc="75" dirty="0"/>
              <a:t> </a:t>
            </a:r>
            <a:r>
              <a:rPr sz="2400" dirty="0"/>
              <a:t>service</a:t>
            </a:r>
            <a:r>
              <a:rPr sz="2400" spc="-40" dirty="0"/>
              <a:t> </a:t>
            </a:r>
            <a:r>
              <a:rPr sz="2400" dirty="0"/>
              <a:t>APIs</a:t>
            </a:r>
            <a:r>
              <a:rPr sz="2400" spc="45" dirty="0"/>
              <a:t> </a:t>
            </a:r>
            <a:r>
              <a:rPr sz="2400" spc="-35" dirty="0"/>
              <a:t>to</a:t>
            </a:r>
            <a:r>
              <a:rPr sz="2400" spc="-55" dirty="0"/>
              <a:t> </a:t>
            </a:r>
            <a:r>
              <a:rPr sz="2400" spc="-10" dirty="0"/>
              <a:t>provide 	</a:t>
            </a:r>
            <a:r>
              <a:rPr spc="-45" dirty="0"/>
              <a:t>a</a:t>
            </a:r>
            <a:r>
              <a:rPr spc="-120" dirty="0"/>
              <a:t> </a:t>
            </a:r>
            <a:r>
              <a:rPr spc="-20" dirty="0"/>
              <a:t>single,</a:t>
            </a:r>
            <a:r>
              <a:rPr spc="-114" dirty="0"/>
              <a:t> </a:t>
            </a:r>
            <a:r>
              <a:rPr spc="-45" dirty="0"/>
              <a:t>understandable</a:t>
            </a:r>
            <a:r>
              <a:rPr spc="-150" dirty="0"/>
              <a:t> </a:t>
            </a:r>
            <a:r>
              <a:rPr spc="-45" dirty="0"/>
              <a:t>metric</a:t>
            </a:r>
            <a:r>
              <a:rPr spc="15" dirty="0"/>
              <a:t> </a:t>
            </a:r>
            <a:r>
              <a:rPr spc="-80" dirty="0"/>
              <a:t>of</a:t>
            </a:r>
            <a:r>
              <a:rPr spc="-60" dirty="0"/>
              <a:t> </a:t>
            </a:r>
            <a:r>
              <a:rPr spc="-10" dirty="0"/>
              <a:t>urban 	</a:t>
            </a:r>
            <a:r>
              <a:rPr spc="-60" dirty="0"/>
              <a:t>well-</a:t>
            </a:r>
            <a:r>
              <a:rPr spc="-10" dirty="0"/>
              <a:t>being.</a:t>
            </a:r>
            <a:endParaRPr sz="2400"/>
          </a:p>
          <a:p>
            <a:pPr>
              <a:lnSpc>
                <a:spcPct val="100000"/>
              </a:lnSpc>
              <a:spcBef>
                <a:spcPts val="2120"/>
              </a:spcBef>
              <a:buFont typeface="Calibri"/>
              <a:buChar char="•"/>
            </a:pPr>
            <a:endParaRPr sz="2400"/>
          </a:p>
          <a:p>
            <a:pPr marL="282575" marR="5080" indent="-270510">
              <a:lnSpc>
                <a:spcPct val="88500"/>
              </a:lnSpc>
              <a:buClr>
                <a:srgbClr val="11316B"/>
              </a:buClr>
              <a:buChar char="•"/>
              <a:tabLst>
                <a:tab pos="282575" algn="l"/>
              </a:tabLst>
            </a:pPr>
            <a:r>
              <a:rPr sz="2700" dirty="0">
                <a:solidFill>
                  <a:srgbClr val="011F54"/>
                </a:solidFill>
              </a:rPr>
              <a:t>Live</a:t>
            </a:r>
            <a:r>
              <a:rPr sz="2700" spc="-200" dirty="0">
                <a:solidFill>
                  <a:srgbClr val="011F54"/>
                </a:solidFill>
              </a:rPr>
              <a:t> </a:t>
            </a:r>
            <a:r>
              <a:rPr sz="2700" spc="-85" dirty="0">
                <a:solidFill>
                  <a:srgbClr val="05235D"/>
                </a:solidFill>
              </a:rPr>
              <a:t>Air</a:t>
            </a:r>
            <a:r>
              <a:rPr sz="2700" spc="-110" dirty="0">
                <a:solidFill>
                  <a:srgbClr val="05235D"/>
                </a:solidFill>
              </a:rPr>
              <a:t> </a:t>
            </a:r>
            <a:r>
              <a:rPr sz="2700" spc="-50" dirty="0">
                <a:solidFill>
                  <a:srgbClr val="0C2862"/>
                </a:solidFill>
              </a:rPr>
              <a:t>Quality</a:t>
            </a:r>
            <a:r>
              <a:rPr sz="2700" spc="-80" dirty="0">
                <a:solidFill>
                  <a:srgbClr val="0C2862"/>
                </a:solidFill>
              </a:rPr>
              <a:t> </a:t>
            </a:r>
            <a:r>
              <a:rPr sz="2700" spc="-50" dirty="0">
                <a:solidFill>
                  <a:srgbClr val="081F44"/>
                </a:solidFill>
              </a:rPr>
              <a:t>Index</a:t>
            </a:r>
            <a:r>
              <a:rPr sz="2700" spc="-25" dirty="0">
                <a:solidFill>
                  <a:srgbClr val="081F44"/>
                </a:solidFill>
              </a:rPr>
              <a:t> </a:t>
            </a:r>
            <a:r>
              <a:rPr sz="2700" spc="-114" dirty="0">
                <a:solidFill>
                  <a:srgbClr val="0A214B"/>
                </a:solidFill>
              </a:rPr>
              <a:t>(AQI):</a:t>
            </a:r>
            <a:r>
              <a:rPr sz="2700" spc="-50" dirty="0">
                <a:solidFill>
                  <a:srgbClr val="0A214B"/>
                </a:solidFill>
              </a:rPr>
              <a:t> </a:t>
            </a:r>
            <a:r>
              <a:rPr sz="2700" spc="-145" dirty="0"/>
              <a:t>Real-</a:t>
            </a:r>
            <a:r>
              <a:rPr sz="2700" spc="-140" dirty="0"/>
              <a:t>time</a:t>
            </a:r>
            <a:r>
              <a:rPr sz="2700" spc="25" dirty="0"/>
              <a:t> </a:t>
            </a:r>
            <a:r>
              <a:rPr sz="2700" spc="-25" dirty="0"/>
              <a:t>All </a:t>
            </a:r>
            <a:r>
              <a:rPr sz="2700" spc="-140" dirty="0"/>
              <a:t>data</a:t>
            </a:r>
            <a:r>
              <a:rPr sz="2700" spc="-70" dirty="0"/>
              <a:t> </a:t>
            </a:r>
            <a:r>
              <a:rPr sz="2700" spc="-100" dirty="0"/>
              <a:t>pulled</a:t>
            </a:r>
            <a:r>
              <a:rPr sz="2700" spc="-15" dirty="0"/>
              <a:t> </a:t>
            </a:r>
            <a:r>
              <a:rPr sz="2700" spc="-200" dirty="0"/>
              <a:t>from</a:t>
            </a:r>
            <a:r>
              <a:rPr sz="2700" spc="-75" dirty="0"/>
              <a:t> </a:t>
            </a:r>
            <a:r>
              <a:rPr sz="2700" spc="-120" dirty="0"/>
              <a:t>sensors,</a:t>
            </a:r>
            <a:r>
              <a:rPr sz="2700" spc="-25" dirty="0"/>
              <a:t> </a:t>
            </a:r>
            <a:r>
              <a:rPr sz="2700" spc="-110" dirty="0"/>
              <a:t>displayed</a:t>
            </a:r>
            <a:r>
              <a:rPr sz="2700" spc="100" dirty="0"/>
              <a:t> </a:t>
            </a:r>
            <a:r>
              <a:rPr sz="2700" spc="-165" dirty="0"/>
              <a:t>on</a:t>
            </a:r>
            <a:r>
              <a:rPr sz="2700" spc="-150" dirty="0"/>
              <a:t> </a:t>
            </a:r>
            <a:r>
              <a:rPr sz="2700" spc="-50" dirty="0"/>
              <a:t>a </a:t>
            </a:r>
            <a:r>
              <a:rPr sz="2600" spc="-65" dirty="0"/>
              <a:t>map</a:t>
            </a:r>
            <a:r>
              <a:rPr sz="2600" spc="-85" dirty="0"/>
              <a:t> </a:t>
            </a:r>
            <a:r>
              <a:rPr sz="2600" spc="-105" dirty="0"/>
              <a:t>with</a:t>
            </a:r>
            <a:r>
              <a:rPr sz="2600" spc="-40" dirty="0"/>
              <a:t> </a:t>
            </a:r>
            <a:r>
              <a:rPr sz="2600" spc="-95" dirty="0"/>
              <a:t>color-</a:t>
            </a:r>
            <a:r>
              <a:rPr sz="2600" spc="-85" dirty="0"/>
              <a:t>coded</a:t>
            </a:r>
            <a:r>
              <a:rPr sz="2600" spc="-5" dirty="0"/>
              <a:t> </a:t>
            </a:r>
            <a:r>
              <a:rPr sz="2600" spc="-100" dirty="0"/>
              <a:t>heatmaps</a:t>
            </a:r>
            <a:r>
              <a:rPr sz="2600" spc="15" dirty="0"/>
              <a:t> </a:t>
            </a:r>
            <a:r>
              <a:rPr sz="2600" spc="-70" dirty="0"/>
              <a:t>to</a:t>
            </a:r>
            <a:r>
              <a:rPr sz="2600" spc="-135" dirty="0"/>
              <a:t> </a:t>
            </a:r>
            <a:r>
              <a:rPr sz="2600" spc="-55" dirty="0"/>
              <a:t>identify </a:t>
            </a:r>
            <a:r>
              <a:rPr sz="2700" spc="-105" dirty="0"/>
              <a:t>pollution</a:t>
            </a:r>
            <a:r>
              <a:rPr sz="2700" spc="5" dirty="0"/>
              <a:t> </a:t>
            </a:r>
            <a:r>
              <a:rPr sz="2700" spc="-25" dirty="0"/>
              <a:t>hotspots.</a:t>
            </a:r>
            <a:endParaRPr sz="2700"/>
          </a:p>
          <a:p>
            <a:pPr>
              <a:lnSpc>
                <a:spcPct val="100000"/>
              </a:lnSpc>
              <a:spcBef>
                <a:spcPts val="1770"/>
              </a:spcBef>
              <a:buFont typeface="Calibri"/>
              <a:buChar char="•"/>
            </a:pPr>
            <a:endParaRPr sz="2700"/>
          </a:p>
          <a:p>
            <a:pPr marL="286385" marR="126364" indent="-271780">
              <a:lnSpc>
                <a:spcPct val="94900"/>
              </a:lnSpc>
              <a:buChar char="•"/>
              <a:tabLst>
                <a:tab pos="286385" algn="l"/>
                <a:tab pos="293370" algn="l"/>
              </a:tabLst>
            </a:pPr>
            <a:r>
              <a:rPr dirty="0">
                <a:solidFill>
                  <a:srgbClr val="0F2D67"/>
                </a:solidFill>
              </a:rPr>
              <a:t>	</a:t>
            </a:r>
            <a:r>
              <a:rPr dirty="0">
                <a:solidFill>
                  <a:srgbClr val="082454"/>
                </a:solidFill>
              </a:rPr>
              <a:t>Active</a:t>
            </a:r>
            <a:r>
              <a:rPr spc="-70" dirty="0">
                <a:solidFill>
                  <a:srgbClr val="082454"/>
                </a:solidFill>
              </a:rPr>
              <a:t> </a:t>
            </a:r>
            <a:r>
              <a:rPr dirty="0">
                <a:solidFill>
                  <a:srgbClr val="052357"/>
                </a:solidFill>
              </a:rPr>
              <a:t>Alerts</a:t>
            </a:r>
            <a:r>
              <a:rPr spc="110" dirty="0">
                <a:solidFill>
                  <a:srgbClr val="052357"/>
                </a:solidFill>
              </a:rPr>
              <a:t> </a:t>
            </a:r>
            <a:r>
              <a:rPr spc="-125" dirty="0">
                <a:solidFill>
                  <a:srgbClr val="082A67"/>
                </a:solidFill>
              </a:rPr>
              <a:t>&amp;</a:t>
            </a:r>
            <a:r>
              <a:rPr spc="-60" dirty="0">
                <a:solidFill>
                  <a:srgbClr val="082A67"/>
                </a:solidFill>
              </a:rPr>
              <a:t> </a:t>
            </a:r>
            <a:r>
              <a:rPr dirty="0">
                <a:solidFill>
                  <a:srgbClr val="0A1F4F"/>
                </a:solidFill>
              </a:rPr>
              <a:t>Incidents:</a:t>
            </a:r>
            <a:r>
              <a:rPr spc="75" dirty="0">
                <a:solidFill>
                  <a:srgbClr val="0A1F4F"/>
                </a:solidFill>
              </a:rPr>
              <a:t> </a:t>
            </a:r>
            <a:r>
              <a:rPr spc="-110" dirty="0"/>
              <a:t>A</a:t>
            </a:r>
            <a:r>
              <a:rPr spc="5" dirty="0"/>
              <a:t> </a:t>
            </a:r>
            <a:r>
              <a:rPr dirty="0"/>
              <a:t>live </a:t>
            </a:r>
            <a:r>
              <a:rPr spc="-75" dirty="0"/>
              <a:t>feed</a:t>
            </a:r>
            <a:r>
              <a:rPr spc="15" dirty="0"/>
              <a:t> </a:t>
            </a:r>
            <a:r>
              <a:rPr spc="-25" dirty="0"/>
              <a:t>of </a:t>
            </a:r>
            <a:r>
              <a:rPr sz="2550" spc="-60" dirty="0"/>
              <a:t>active</a:t>
            </a:r>
            <a:r>
              <a:rPr sz="2550" spc="-85" dirty="0"/>
              <a:t> </a:t>
            </a:r>
            <a:r>
              <a:rPr sz="2550" spc="-60" dirty="0"/>
              <a:t>emergency</a:t>
            </a:r>
            <a:r>
              <a:rPr sz="2550" spc="25" dirty="0"/>
              <a:t> </a:t>
            </a:r>
            <a:r>
              <a:rPr sz="2550" spc="-35" dirty="0"/>
              <a:t>alerts,</a:t>
            </a:r>
            <a:r>
              <a:rPr sz="2550" spc="-100" dirty="0"/>
              <a:t> </a:t>
            </a:r>
            <a:r>
              <a:rPr sz="2550" spc="-60" dirty="0"/>
              <a:t>traffic</a:t>
            </a:r>
            <a:r>
              <a:rPr sz="2550" spc="-50" dirty="0"/>
              <a:t> </a:t>
            </a:r>
            <a:r>
              <a:rPr sz="2550" spc="-10" dirty="0"/>
              <a:t>incidents, </a:t>
            </a:r>
            <a:r>
              <a:rPr dirty="0"/>
              <a:t>and</a:t>
            </a:r>
            <a:r>
              <a:rPr spc="-145" dirty="0"/>
              <a:t> </a:t>
            </a:r>
            <a:r>
              <a:rPr dirty="0"/>
              <a:t>citizen</a:t>
            </a:r>
            <a:r>
              <a:rPr spc="95" dirty="0"/>
              <a:t> </a:t>
            </a:r>
            <a:r>
              <a:rPr spc="-40" dirty="0"/>
              <a:t>reported </a:t>
            </a:r>
            <a:r>
              <a:rPr dirty="0"/>
              <a:t>issues,</a:t>
            </a:r>
            <a:r>
              <a:rPr spc="-140" dirty="0"/>
              <a:t> </a:t>
            </a:r>
            <a:r>
              <a:rPr spc="-20" dirty="0"/>
              <a:t>prioritized</a:t>
            </a:r>
            <a:r>
              <a:rPr spc="-70" dirty="0"/>
              <a:t> </a:t>
            </a:r>
            <a:r>
              <a:rPr spc="-25" dirty="0"/>
              <a:t>by </a:t>
            </a:r>
            <a:r>
              <a:rPr sz="2400" spc="-10" dirty="0"/>
              <a:t>severity.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6726481" y="6743700"/>
            <a:ext cx="1651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0" dirty="0">
                <a:solidFill>
                  <a:srgbClr val="898989"/>
                </a:solidFill>
                <a:latin typeface="Calibri"/>
                <a:cs typeface="Calibri"/>
              </a:rPr>
              <a:t>•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840158"/>
            <a:ext cx="8991600" cy="72114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9100" y="6934200"/>
            <a:ext cx="774700" cy="723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9700" y="3568700"/>
            <a:ext cx="2616200" cy="2374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09100" y="4673600"/>
            <a:ext cx="774700" cy="787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09100" y="2349500"/>
            <a:ext cx="774700" cy="7874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331200" y="7287683"/>
            <a:ext cx="715645" cy="0"/>
          </a:xfrm>
          <a:custGeom>
            <a:avLst/>
            <a:gdLst/>
            <a:ahLst/>
            <a:cxnLst/>
            <a:rect l="l" t="t" r="r" b="b"/>
            <a:pathLst>
              <a:path w="715645">
                <a:moveTo>
                  <a:pt x="0" y="0"/>
                </a:moveTo>
                <a:lnTo>
                  <a:pt x="7154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9400" y="6057900"/>
            <a:ext cx="152400" cy="355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40700" y="2870200"/>
            <a:ext cx="101600" cy="889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51700" y="3124200"/>
            <a:ext cx="812800" cy="3937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203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35"/>
              </a:spcBef>
            </a:pPr>
            <a:r>
              <a:rPr sz="5450" dirty="0">
                <a:latin typeface="Arial MT"/>
                <a:cs typeface="Arial MT"/>
              </a:rPr>
              <a:t>The</a:t>
            </a:r>
            <a:r>
              <a:rPr sz="5450" spc="-265" dirty="0">
                <a:latin typeface="Arial MT"/>
                <a:cs typeface="Arial MT"/>
              </a:rPr>
              <a:t> </a:t>
            </a:r>
            <a:r>
              <a:rPr sz="5450" spc="80" dirty="0">
                <a:latin typeface="Arial MT"/>
                <a:cs typeface="Arial MT"/>
              </a:rPr>
              <a:t>Digital</a:t>
            </a:r>
            <a:r>
              <a:rPr sz="5450" spc="-60" dirty="0">
                <a:latin typeface="Arial MT"/>
                <a:cs typeface="Arial MT"/>
              </a:rPr>
              <a:t> </a:t>
            </a:r>
            <a:r>
              <a:rPr sz="5450" dirty="0">
                <a:latin typeface="Arial MT"/>
                <a:cs typeface="Arial MT"/>
              </a:rPr>
              <a:t>Twin:</a:t>
            </a:r>
            <a:r>
              <a:rPr sz="5450" spc="-120" dirty="0">
                <a:latin typeface="Arial MT"/>
                <a:cs typeface="Arial MT"/>
              </a:rPr>
              <a:t> </a:t>
            </a:r>
            <a:r>
              <a:rPr sz="5450" spc="65" dirty="0">
                <a:latin typeface="Arial MT"/>
                <a:cs typeface="Arial MT"/>
              </a:rPr>
              <a:t>Visualizing</a:t>
            </a:r>
            <a:r>
              <a:rPr sz="5450" spc="-85" dirty="0">
                <a:latin typeface="Arial MT"/>
                <a:cs typeface="Arial MT"/>
              </a:rPr>
              <a:t> </a:t>
            </a:r>
            <a:r>
              <a:rPr sz="5450" spc="-220" dirty="0">
                <a:latin typeface="Arial MT"/>
                <a:cs typeface="Arial MT"/>
              </a:rPr>
              <a:t>a</a:t>
            </a:r>
            <a:r>
              <a:rPr sz="5450" spc="-320" dirty="0">
                <a:latin typeface="Arial MT"/>
                <a:cs typeface="Arial MT"/>
              </a:rPr>
              <a:t> </a:t>
            </a:r>
            <a:r>
              <a:rPr sz="5450" spc="90" dirty="0">
                <a:latin typeface="Arial MT"/>
                <a:cs typeface="Arial MT"/>
              </a:rPr>
              <a:t>City</a:t>
            </a:r>
            <a:r>
              <a:rPr sz="5450" spc="-225" dirty="0">
                <a:latin typeface="Arial MT"/>
                <a:cs typeface="Arial MT"/>
              </a:rPr>
              <a:t> </a:t>
            </a:r>
            <a:r>
              <a:rPr sz="5450" spc="80" dirty="0">
                <a:latin typeface="Arial MT"/>
                <a:cs typeface="Arial MT"/>
              </a:rPr>
              <a:t>in</a:t>
            </a:r>
            <a:r>
              <a:rPr sz="5450" spc="-190" dirty="0">
                <a:latin typeface="Arial MT"/>
                <a:cs typeface="Arial MT"/>
              </a:rPr>
              <a:t> </a:t>
            </a:r>
            <a:r>
              <a:rPr sz="5450" spc="120" dirty="0">
                <a:latin typeface="Arial MT"/>
                <a:cs typeface="Arial MT"/>
              </a:rPr>
              <a:t>Motion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9451" y="2277023"/>
            <a:ext cx="6255385" cy="2071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5240" marR="5080" indent="-3175">
              <a:lnSpc>
                <a:spcPct val="108400"/>
              </a:lnSpc>
              <a:spcBef>
                <a:spcPts val="55"/>
              </a:spcBef>
              <a:tabLst>
                <a:tab pos="5433060" algn="l"/>
              </a:tabLst>
            </a:pPr>
            <a:r>
              <a:rPr sz="2600" spc="-60" dirty="0">
                <a:latin typeface="Arial MT"/>
                <a:cs typeface="Arial MT"/>
              </a:rPr>
              <a:t>Live</a:t>
            </a:r>
            <a:r>
              <a:rPr sz="2600" spc="-23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Public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Transport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35" dirty="0">
                <a:latin typeface="Arial MT"/>
                <a:cs typeface="Arial MT"/>
              </a:rPr>
              <a:t>Tracking:</a:t>
            </a:r>
            <a:r>
              <a:rPr sz="2600" spc="-114" dirty="0">
                <a:latin typeface="Arial MT"/>
                <a:cs typeface="Arial MT"/>
              </a:rPr>
              <a:t> </a:t>
            </a:r>
            <a:r>
              <a:rPr sz="2600" spc="-125" dirty="0">
                <a:latin typeface="Arial MT"/>
                <a:cs typeface="Arial MT"/>
              </a:rPr>
              <a:t>Real-</a:t>
            </a:r>
            <a:r>
              <a:rPr sz="2600" spc="-20" dirty="0">
                <a:latin typeface="Arial MT"/>
                <a:cs typeface="Arial MT"/>
              </a:rPr>
              <a:t>time </a:t>
            </a:r>
            <a:r>
              <a:rPr sz="2500" spc="-35" dirty="0">
                <a:latin typeface="Arial MT"/>
                <a:cs typeface="Arial MT"/>
              </a:rPr>
              <a:t>visualization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bus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and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marshrutka</a:t>
            </a:r>
            <a:r>
              <a:rPr sz="2500" spc="14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locations, </a:t>
            </a:r>
            <a:r>
              <a:rPr sz="2350" dirty="0">
                <a:latin typeface="Arial MT"/>
                <a:cs typeface="Arial MT"/>
              </a:rPr>
              <a:t>sourced</a:t>
            </a:r>
            <a:r>
              <a:rPr sz="2350" spc="254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from</a:t>
            </a:r>
            <a:r>
              <a:rPr sz="2350" spc="10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our</a:t>
            </a:r>
            <a:r>
              <a:rPr sz="2350" spc="95" dirty="0">
                <a:latin typeface="Arial MT"/>
                <a:cs typeface="Arial MT"/>
              </a:rPr>
              <a:t> </a:t>
            </a:r>
            <a:r>
              <a:rPr sz="2350" spc="260" dirty="0">
                <a:solidFill>
                  <a:srgbClr val="AE794D"/>
                </a:solidFill>
                <a:latin typeface="Arial MT"/>
                <a:cs typeface="Arial MT"/>
              </a:rPr>
              <a:t>divert</a:t>
            </a:r>
            <a:r>
              <a:rPr sz="2350" spc="-190" dirty="0">
                <a:solidFill>
                  <a:srgbClr val="AE794D"/>
                </a:solidFill>
                <a:latin typeface="Arial MT"/>
                <a:cs typeface="Arial MT"/>
              </a:rPr>
              <a:t> </a:t>
            </a:r>
            <a:r>
              <a:rPr sz="2350" spc="-180" dirty="0">
                <a:solidFill>
                  <a:srgbClr val="A87E60"/>
                </a:solidFill>
                <a:latin typeface="Arial MT"/>
                <a:cs typeface="Arial MT"/>
              </a:rPr>
              <a:t>na</a:t>
            </a:r>
            <a:r>
              <a:rPr sz="2350" spc="-325" dirty="0">
                <a:solidFill>
                  <a:srgbClr val="A87E60"/>
                </a:solidFill>
                <a:latin typeface="Arial MT"/>
                <a:cs typeface="Arial MT"/>
              </a:rPr>
              <a:t> </a:t>
            </a:r>
            <a:r>
              <a:rPr sz="2350" spc="-60" dirty="0">
                <a:solidFill>
                  <a:srgbClr val="9A775D"/>
                </a:solidFill>
                <a:latin typeface="Arial MT"/>
                <a:cs typeface="Arial MT"/>
              </a:rPr>
              <a:t>nspn</a:t>
            </a:r>
            <a:r>
              <a:rPr sz="2350" spc="-360" dirty="0">
                <a:solidFill>
                  <a:srgbClr val="9A775D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9C8975"/>
                </a:solidFill>
                <a:latin typeface="Arial MT"/>
                <a:cs typeface="Arial MT"/>
              </a:rPr>
              <a:t>i</a:t>
            </a:r>
            <a:r>
              <a:rPr sz="2350" spc="204" dirty="0">
                <a:solidFill>
                  <a:srgbClr val="9C8975"/>
                </a:solidFill>
                <a:latin typeface="Arial MT"/>
                <a:cs typeface="Arial MT"/>
              </a:rPr>
              <a:t> </a:t>
            </a:r>
            <a:r>
              <a:rPr sz="2350" spc="60" dirty="0">
                <a:solidFill>
                  <a:srgbClr val="B6703B"/>
                </a:solidFill>
                <a:latin typeface="Arial MT"/>
                <a:cs typeface="Arial MT"/>
              </a:rPr>
              <a:t>t_a</a:t>
            </a:r>
            <a:r>
              <a:rPr sz="2350" spc="-220" dirty="0">
                <a:solidFill>
                  <a:srgbClr val="B6703B"/>
                </a:solidFill>
                <a:latin typeface="Arial MT"/>
                <a:cs typeface="Arial MT"/>
              </a:rPr>
              <a:t> </a:t>
            </a:r>
            <a:r>
              <a:rPr sz="2350" spc="-325" dirty="0">
                <a:solidFill>
                  <a:srgbClr val="9C826B"/>
                </a:solidFill>
                <a:latin typeface="Arial MT"/>
                <a:cs typeface="Arial MT"/>
              </a:rPr>
              <a:t>t</a:t>
            </a:r>
            <a:r>
              <a:rPr sz="2350" spc="240" dirty="0">
                <a:solidFill>
                  <a:srgbClr val="9C826B"/>
                </a:solidFill>
                <a:latin typeface="Arial MT"/>
                <a:cs typeface="Arial MT"/>
              </a:rPr>
              <a:t> </a:t>
            </a:r>
            <a:r>
              <a:rPr sz="2350" spc="-320" dirty="0">
                <a:solidFill>
                  <a:srgbClr val="9C826B"/>
                </a:solidFill>
                <a:latin typeface="Arial MT"/>
                <a:cs typeface="Arial MT"/>
              </a:rPr>
              <a:t>i</a:t>
            </a:r>
            <a:r>
              <a:rPr sz="2350" dirty="0">
                <a:solidFill>
                  <a:srgbClr val="9C826B"/>
                </a:solidFill>
                <a:latin typeface="Arial MT"/>
                <a:cs typeface="Arial MT"/>
              </a:rPr>
              <a:t>	</a:t>
            </a:r>
            <a:r>
              <a:rPr sz="2350" spc="-120" dirty="0">
                <a:solidFill>
                  <a:srgbClr val="9E7052"/>
                </a:solidFill>
                <a:latin typeface="Arial MT"/>
                <a:cs typeface="Arial MT"/>
              </a:rPr>
              <a:t>.</a:t>
            </a:r>
            <a:r>
              <a:rPr sz="2350" spc="-135" dirty="0">
                <a:solidFill>
                  <a:srgbClr val="9E7052"/>
                </a:solidFill>
                <a:latin typeface="Arial MT"/>
                <a:cs typeface="Arial MT"/>
              </a:rPr>
              <a:t> </a:t>
            </a:r>
            <a:r>
              <a:rPr sz="2350" spc="-25" dirty="0">
                <a:solidFill>
                  <a:srgbClr val="B3825D"/>
                </a:solidFill>
                <a:latin typeface="Arial MT"/>
                <a:cs typeface="Arial MT"/>
              </a:rPr>
              <a:t>py </a:t>
            </a:r>
            <a:r>
              <a:rPr sz="2550" spc="-30" dirty="0">
                <a:latin typeface="Arial MT"/>
                <a:cs typeface="Arial MT"/>
              </a:rPr>
              <a:t>integration,</a:t>
            </a:r>
            <a:r>
              <a:rPr sz="2550" spc="-125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allowing</a:t>
            </a:r>
            <a:r>
              <a:rPr sz="2550" spc="-9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for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dynamic</a:t>
            </a:r>
            <a:r>
              <a:rPr sz="2550" spc="-3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route </a:t>
            </a:r>
            <a:r>
              <a:rPr sz="2400" spc="-10" dirty="0">
                <a:latin typeface="Arial MT"/>
                <a:cs typeface="Arial MT"/>
              </a:rPr>
              <a:t>analysis.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89503" y="4629150"/>
            <a:ext cx="6087110" cy="164973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4765" marR="5080" indent="-12700">
              <a:lnSpc>
                <a:spcPct val="109300"/>
              </a:lnSpc>
              <a:spcBef>
                <a:spcPts val="20"/>
              </a:spcBef>
              <a:tabLst>
                <a:tab pos="5396865" algn="l"/>
              </a:tabLst>
            </a:pPr>
            <a:r>
              <a:rPr sz="2500" dirty="0">
                <a:latin typeface="Arial MT"/>
                <a:cs typeface="Arial MT"/>
              </a:rPr>
              <a:t>Predictive Traffic</a:t>
            </a:r>
            <a:r>
              <a:rPr sz="2500" spc="-10" dirty="0">
                <a:latin typeface="Arial MT"/>
                <a:cs typeface="Arial MT"/>
              </a:rPr>
              <a:t> Layers: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60" dirty="0">
                <a:latin typeface="Arial MT"/>
                <a:cs typeface="Arial MT"/>
              </a:rPr>
              <a:t>Overlay</a:t>
            </a:r>
            <a:r>
              <a:rPr sz="2500" spc="1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current </a:t>
            </a:r>
            <a:r>
              <a:rPr sz="2500" spc="-45" dirty="0">
                <a:latin typeface="Arial MT"/>
                <a:cs typeface="Arial MT"/>
              </a:rPr>
              <a:t>and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predicted</a:t>
            </a:r>
            <a:r>
              <a:rPr sz="2500" spc="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traffic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congestion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levels, </a:t>
            </a:r>
            <a:r>
              <a:rPr sz="2400" dirty="0">
                <a:latin typeface="Arial MT"/>
                <a:cs typeface="Arial MT"/>
              </a:rPr>
              <a:t>enabling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proactive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traffic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citizen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re-routing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advisories.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88882" y="6841852"/>
            <a:ext cx="6184900" cy="165735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7780" marR="5080" indent="-5715">
              <a:lnSpc>
                <a:spcPct val="112100"/>
              </a:lnSpc>
              <a:spcBef>
                <a:spcPts val="15"/>
              </a:spcBef>
            </a:pPr>
            <a:r>
              <a:rPr sz="2500" spc="-10" dirty="0">
                <a:latin typeface="Arial MT"/>
                <a:cs typeface="Arial MT"/>
              </a:rPr>
              <a:t>Eco-</a:t>
            </a:r>
            <a:r>
              <a:rPr sz="2500" dirty="0">
                <a:latin typeface="Arial MT"/>
                <a:cs typeface="Arial MT"/>
              </a:rPr>
              <a:t>Routing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Analysis: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130" dirty="0">
                <a:latin typeface="Arial MT"/>
                <a:cs typeface="Arial MT"/>
              </a:rPr>
              <a:t>An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integrated</a:t>
            </a:r>
            <a:r>
              <a:rPr sz="2500" spc="14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tool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calculates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routes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time </a:t>
            </a:r>
            <a:r>
              <a:rPr sz="2350" dirty="0">
                <a:latin typeface="Arial MT"/>
                <a:cs typeface="Arial MT"/>
              </a:rPr>
              <a:t>but</a:t>
            </a:r>
            <a:r>
              <a:rPr sz="2350" spc="10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also</a:t>
            </a:r>
            <a:r>
              <a:rPr sz="2350" spc="8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on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minimizing</a:t>
            </a:r>
            <a:r>
              <a:rPr sz="2350" spc="24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CO2</a:t>
            </a:r>
            <a:r>
              <a:rPr sz="2350" spc="2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emissions, </a:t>
            </a:r>
            <a:r>
              <a:rPr sz="2350" dirty="0">
                <a:latin typeface="Arial MT"/>
                <a:cs typeface="Arial MT"/>
              </a:rPr>
              <a:t>promoting</a:t>
            </a:r>
            <a:r>
              <a:rPr sz="2350" spc="28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greener</a:t>
            </a:r>
            <a:r>
              <a:rPr sz="2350" spc="340" dirty="0">
                <a:latin typeface="Arial MT"/>
                <a:cs typeface="Arial MT"/>
              </a:rPr>
              <a:t> </a:t>
            </a:r>
            <a:r>
              <a:rPr sz="2350" spc="55" dirty="0">
                <a:latin typeface="Arial MT"/>
                <a:cs typeface="Arial MT"/>
              </a:rPr>
              <a:t>transportation</a:t>
            </a:r>
            <a:r>
              <a:rPr sz="2350" spc="13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choices.</a:t>
            </a:r>
            <a:endParaRPr sz="2350">
              <a:latin typeface="Arial MT"/>
              <a:cs typeface="Arial MT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763" y="2288547"/>
            <a:ext cx="7954485" cy="6031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300" y="8229600"/>
            <a:ext cx="3568700" cy="977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4200" y="1968500"/>
            <a:ext cx="3581400" cy="495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4500" y="7277100"/>
            <a:ext cx="901700" cy="1003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13700" y="4838700"/>
            <a:ext cx="889000" cy="8636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856316" y="2421467"/>
            <a:ext cx="0" cy="6303645"/>
          </a:xfrm>
          <a:custGeom>
            <a:avLst/>
            <a:gdLst/>
            <a:ahLst/>
            <a:cxnLst/>
            <a:rect l="l" t="t" r="r" b="b"/>
            <a:pathLst>
              <a:path h="6303645">
                <a:moveTo>
                  <a:pt x="0" y="63034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19816" y="2446867"/>
            <a:ext cx="0" cy="6405245"/>
          </a:xfrm>
          <a:custGeom>
            <a:avLst/>
            <a:gdLst/>
            <a:ahLst/>
            <a:cxnLst/>
            <a:rect l="l" t="t" r="r" b="b"/>
            <a:pathLst>
              <a:path h="6405245">
                <a:moveTo>
                  <a:pt x="0" y="64050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72216" y="2370667"/>
            <a:ext cx="0" cy="6316345"/>
          </a:xfrm>
          <a:custGeom>
            <a:avLst/>
            <a:gdLst/>
            <a:ahLst/>
            <a:cxnLst/>
            <a:rect l="l" t="t" r="r" b="b"/>
            <a:pathLst>
              <a:path h="6316345">
                <a:moveTo>
                  <a:pt x="0" y="63161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85316" y="2357967"/>
            <a:ext cx="0" cy="6430645"/>
          </a:xfrm>
          <a:custGeom>
            <a:avLst/>
            <a:gdLst/>
            <a:ahLst/>
            <a:cxnLst/>
            <a:rect l="l" t="t" r="r" b="b"/>
            <a:pathLst>
              <a:path h="6430645">
                <a:moveTo>
                  <a:pt x="0" y="64304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86916" y="2281767"/>
            <a:ext cx="0" cy="6532245"/>
          </a:xfrm>
          <a:custGeom>
            <a:avLst/>
            <a:gdLst/>
            <a:ahLst/>
            <a:cxnLst/>
            <a:rect l="l" t="t" r="r" b="b"/>
            <a:pathLst>
              <a:path h="6532245">
                <a:moveTo>
                  <a:pt x="0" y="65320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50416" y="2269067"/>
            <a:ext cx="0" cy="6557645"/>
          </a:xfrm>
          <a:custGeom>
            <a:avLst/>
            <a:gdLst/>
            <a:ahLst/>
            <a:cxnLst/>
            <a:rect l="l" t="t" r="r" b="b"/>
            <a:pathLst>
              <a:path h="6557645">
                <a:moveTo>
                  <a:pt x="0" y="65574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13916" y="3653366"/>
            <a:ext cx="0" cy="4576445"/>
          </a:xfrm>
          <a:custGeom>
            <a:avLst/>
            <a:gdLst/>
            <a:ahLst/>
            <a:cxnLst/>
            <a:rect l="l" t="t" r="r" b="b"/>
            <a:pathLst>
              <a:path h="4576445">
                <a:moveTo>
                  <a:pt x="0" y="45762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5B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5372100" y="3399366"/>
            <a:ext cx="2463800" cy="5033645"/>
            <a:chOff x="5372100" y="3399366"/>
            <a:chExt cx="2463800" cy="5033645"/>
          </a:xfrm>
        </p:grpSpPr>
        <p:sp>
          <p:nvSpPr>
            <p:cNvPr id="14" name="object 14"/>
            <p:cNvSpPr/>
            <p:nvPr/>
          </p:nvSpPr>
          <p:spPr>
            <a:xfrm>
              <a:off x="6923616" y="3399366"/>
              <a:ext cx="0" cy="5033645"/>
            </a:xfrm>
            <a:custGeom>
              <a:avLst/>
              <a:gdLst/>
              <a:ahLst/>
              <a:cxnLst/>
              <a:rect l="l" t="t" r="r" b="b"/>
              <a:pathLst>
                <a:path h="5033645">
                  <a:moveTo>
                    <a:pt x="0" y="5033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57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91200" y="8430683"/>
              <a:ext cx="1147445" cy="0"/>
            </a:xfrm>
            <a:custGeom>
              <a:avLst/>
              <a:gdLst/>
              <a:ahLst/>
              <a:cxnLst/>
              <a:rect l="l" t="t" r="r" b="b"/>
              <a:pathLst>
                <a:path w="1147445">
                  <a:moveTo>
                    <a:pt x="0" y="0"/>
                  </a:moveTo>
                  <a:lnTo>
                    <a:pt x="1147233" y="0"/>
                  </a:lnTo>
                </a:path>
              </a:pathLst>
            </a:custGeom>
            <a:ln w="4233">
              <a:solidFill>
                <a:srgbClr val="57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72100" y="7744883"/>
              <a:ext cx="2341245" cy="0"/>
            </a:xfrm>
            <a:custGeom>
              <a:avLst/>
              <a:gdLst/>
              <a:ahLst/>
              <a:cxnLst/>
              <a:rect l="l" t="t" r="r" b="b"/>
              <a:pathLst>
                <a:path w="2341245">
                  <a:moveTo>
                    <a:pt x="0" y="0"/>
                  </a:moveTo>
                  <a:lnTo>
                    <a:pt x="2341033" y="0"/>
                  </a:lnTo>
                </a:path>
              </a:pathLst>
            </a:custGeom>
            <a:ln w="4233">
              <a:solidFill>
                <a:srgbClr val="57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78500" y="5446183"/>
              <a:ext cx="1947545" cy="0"/>
            </a:xfrm>
            <a:custGeom>
              <a:avLst/>
              <a:gdLst/>
              <a:ahLst/>
              <a:cxnLst/>
              <a:rect l="l" t="t" r="r" b="b"/>
              <a:pathLst>
                <a:path w="1947545">
                  <a:moveTo>
                    <a:pt x="0" y="0"/>
                  </a:moveTo>
                  <a:lnTo>
                    <a:pt x="1947333" y="0"/>
                  </a:lnTo>
                </a:path>
              </a:pathLst>
            </a:custGeom>
            <a:ln w="4233">
              <a:solidFill>
                <a:srgbClr val="57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34200" y="3439583"/>
              <a:ext cx="791845" cy="0"/>
            </a:xfrm>
            <a:custGeom>
              <a:avLst/>
              <a:gdLst/>
              <a:ahLst/>
              <a:cxnLst/>
              <a:rect l="l" t="t" r="r" b="b"/>
              <a:pathLst>
                <a:path w="791845">
                  <a:moveTo>
                    <a:pt x="0" y="0"/>
                  </a:moveTo>
                  <a:lnTo>
                    <a:pt x="791633" y="0"/>
                  </a:lnTo>
                </a:path>
              </a:pathLst>
            </a:custGeom>
            <a:ln w="4233">
              <a:solidFill>
                <a:srgbClr val="57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3500" y="7645400"/>
              <a:ext cx="152400" cy="1651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026400" y="2832100"/>
            <a:ext cx="876300" cy="952500"/>
            <a:chOff x="8026400" y="2832100"/>
            <a:chExt cx="876300" cy="95250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89900" y="2832100"/>
              <a:ext cx="736600" cy="5334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26400" y="3333750"/>
              <a:ext cx="279400" cy="4508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20100" y="3403600"/>
              <a:ext cx="482600" cy="381000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9941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25"/>
              </a:spcBef>
            </a:pPr>
            <a:r>
              <a:rPr sz="5250" spc="-100" dirty="0">
                <a:latin typeface="Arial MT"/>
                <a:cs typeface="Arial MT"/>
              </a:rPr>
              <a:t>NeuralNexus:</a:t>
            </a:r>
            <a:r>
              <a:rPr sz="5250" spc="-270" dirty="0">
                <a:latin typeface="Arial MT"/>
                <a:cs typeface="Arial MT"/>
              </a:rPr>
              <a:t> </a:t>
            </a:r>
            <a:r>
              <a:rPr sz="5250" spc="-90" dirty="0">
                <a:latin typeface="Arial MT"/>
                <a:cs typeface="Arial MT"/>
              </a:rPr>
              <a:t>The</a:t>
            </a:r>
            <a:r>
              <a:rPr sz="5250" spc="-275" dirty="0">
                <a:latin typeface="Arial MT"/>
                <a:cs typeface="Arial MT"/>
              </a:rPr>
              <a:t> </a:t>
            </a:r>
            <a:r>
              <a:rPr sz="5250" spc="-55" dirty="0">
                <a:latin typeface="Arial MT"/>
                <a:cs typeface="Arial MT"/>
              </a:rPr>
              <a:t>AI</a:t>
            </a:r>
            <a:r>
              <a:rPr sz="5250" spc="-315" dirty="0">
                <a:latin typeface="Arial MT"/>
                <a:cs typeface="Arial MT"/>
              </a:rPr>
              <a:t> </a:t>
            </a:r>
            <a:r>
              <a:rPr sz="5250" spc="-20" dirty="0">
                <a:latin typeface="Arial MT"/>
                <a:cs typeface="Arial MT"/>
              </a:rPr>
              <a:t>Citizen</a:t>
            </a:r>
            <a:r>
              <a:rPr sz="5250" spc="-280" dirty="0">
                <a:latin typeface="Arial MT"/>
                <a:cs typeface="Arial MT"/>
              </a:rPr>
              <a:t> </a:t>
            </a:r>
            <a:r>
              <a:rPr sz="5250" spc="-10" dirty="0">
                <a:latin typeface="Arial MT"/>
                <a:cs typeface="Arial MT"/>
              </a:rPr>
              <a:t>Assistant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39077" y="4981927"/>
            <a:ext cx="2252980" cy="6946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21310" marR="5080" indent="-309245">
              <a:lnSpc>
                <a:spcPts val="2600"/>
              </a:lnSpc>
              <a:spcBef>
                <a:spcPts val="240"/>
              </a:spcBef>
            </a:pPr>
            <a:r>
              <a:rPr sz="2200" dirty="0">
                <a:latin typeface="Calibri"/>
                <a:cs typeface="Calibri"/>
              </a:rPr>
              <a:t>[INSERT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CHAT </a:t>
            </a:r>
            <a:r>
              <a:rPr sz="2200" spc="-10" dirty="0">
                <a:latin typeface="Calibri"/>
                <a:cs typeface="Calibri"/>
              </a:rPr>
              <a:t>SCREENSHOT]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93151" y="5312127"/>
            <a:ext cx="5778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730" dirty="0">
                <a:solidFill>
                  <a:srgbClr val="838383"/>
                </a:solidFill>
                <a:latin typeface="Calibri"/>
                <a:cs typeface="Calibri"/>
              </a:rPr>
              <a:t>”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02049" y="7549444"/>
            <a:ext cx="160972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65885" algn="l"/>
              </a:tabLst>
            </a:pPr>
            <a:r>
              <a:rPr sz="1800" spc="-60" dirty="0">
                <a:latin typeface="Calibri"/>
                <a:cs typeface="Calibri"/>
              </a:rPr>
              <a:t>SR-</a:t>
            </a:r>
            <a:r>
              <a:rPr sz="1800" spc="-10" dirty="0">
                <a:latin typeface="Calibri"/>
                <a:cs typeface="Calibri"/>
              </a:rPr>
              <a:t>#123456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30" dirty="0">
                <a:solidFill>
                  <a:srgbClr val="8C8C8C"/>
                </a:solidFill>
                <a:latin typeface="Calibri"/>
                <a:cs typeface="Calibri"/>
              </a:rPr>
              <a:t>«</a:t>
            </a:r>
            <a:r>
              <a:rPr sz="1800" spc="-185" dirty="0">
                <a:solidFill>
                  <a:srgbClr val="8C8C8C"/>
                </a:solidFill>
                <a:latin typeface="Calibri"/>
                <a:cs typeface="Calibri"/>
              </a:rPr>
              <a:t> </a:t>
            </a:r>
            <a:r>
              <a:rPr sz="1800" spc="-65" dirty="0">
                <a:solidFill>
                  <a:srgbClr val="8E8E8E"/>
                </a:solidFill>
                <a:latin typeface="Calibri"/>
                <a:cs typeface="Calibri"/>
              </a:rPr>
              <a:t>•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57526" y="1994605"/>
            <a:ext cx="28854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3905" algn="l"/>
              </a:tabLst>
            </a:pPr>
            <a:r>
              <a:rPr sz="3200" spc="-25" dirty="0">
                <a:latin typeface="Calibri"/>
                <a:cs typeface="Calibri"/>
              </a:rPr>
              <a:t>Key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10" dirty="0">
                <a:latin typeface="Calibri"/>
                <a:cs typeface="Calibri"/>
              </a:rPr>
              <a:t>Capabilities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73709" marR="12700" indent="-461645">
              <a:lnSpc>
                <a:spcPct val="89800"/>
              </a:lnSpc>
              <a:spcBef>
                <a:spcPts val="484"/>
              </a:spcBef>
              <a:buClr>
                <a:srgbClr val="627280"/>
              </a:buClr>
              <a:buChar char="•"/>
              <a:tabLst>
                <a:tab pos="477520" algn="l"/>
              </a:tabLst>
            </a:pPr>
            <a:r>
              <a:rPr spc="-120" dirty="0"/>
              <a:t>Multi-</a:t>
            </a:r>
            <a:r>
              <a:rPr spc="-140" dirty="0"/>
              <a:t>Modal</a:t>
            </a:r>
            <a:r>
              <a:rPr spc="-155" dirty="0"/>
              <a:t> </a:t>
            </a:r>
            <a:r>
              <a:rPr spc="-45" dirty="0"/>
              <a:t>Interaction:</a:t>
            </a:r>
            <a:r>
              <a:rPr spc="-65" dirty="0"/>
              <a:t> </a:t>
            </a:r>
            <a:r>
              <a:rPr spc="-95" dirty="0"/>
              <a:t>Citizens</a:t>
            </a:r>
            <a:r>
              <a:rPr spc="-130" dirty="0"/>
              <a:t> </a:t>
            </a:r>
            <a:r>
              <a:rPr spc="-90" dirty="0"/>
              <a:t>can</a:t>
            </a:r>
            <a:r>
              <a:rPr spc="-45" dirty="0"/>
              <a:t> </a:t>
            </a:r>
            <a:r>
              <a:rPr spc="-40" dirty="0"/>
              <a:t>type, 	</a:t>
            </a:r>
            <a:r>
              <a:rPr spc="-145" dirty="0"/>
              <a:t>use</a:t>
            </a:r>
            <a:r>
              <a:rPr spc="-100" dirty="0"/>
              <a:t> </a:t>
            </a:r>
            <a:r>
              <a:rPr spc="-150" dirty="0"/>
              <a:t>their</a:t>
            </a:r>
            <a:r>
              <a:rPr spc="-85" dirty="0"/>
              <a:t> </a:t>
            </a:r>
            <a:r>
              <a:rPr spc="-135" dirty="0"/>
              <a:t>voice</a:t>
            </a:r>
            <a:r>
              <a:rPr spc="-130" dirty="0"/>
              <a:t> </a:t>
            </a:r>
            <a:r>
              <a:rPr spc="-114" dirty="0"/>
              <a:t>(STT/TTS</a:t>
            </a:r>
            <a:r>
              <a:rPr spc="35" dirty="0"/>
              <a:t> </a:t>
            </a:r>
            <a:r>
              <a:rPr spc="-135" dirty="0"/>
              <a:t>integration),</a:t>
            </a:r>
            <a:r>
              <a:rPr spc="90" dirty="0"/>
              <a:t> </a:t>
            </a:r>
            <a:r>
              <a:rPr spc="-25" dirty="0"/>
              <a:t>or 	</a:t>
            </a:r>
            <a:r>
              <a:rPr spc="-130" dirty="0"/>
              <a:t>submit</a:t>
            </a:r>
            <a:r>
              <a:rPr spc="20" dirty="0"/>
              <a:t> </a:t>
            </a:r>
            <a:r>
              <a:rPr spc="-165" dirty="0"/>
              <a:t>photos</a:t>
            </a:r>
            <a:r>
              <a:rPr spc="-55" dirty="0"/>
              <a:t> </a:t>
            </a:r>
            <a:r>
              <a:rPr spc="-130" dirty="0"/>
              <a:t>of</a:t>
            </a:r>
            <a:r>
              <a:rPr spc="-240" dirty="0"/>
              <a:t> </a:t>
            </a:r>
            <a:r>
              <a:rPr spc="-90" dirty="0"/>
              <a:t>issues</a:t>
            </a:r>
            <a:r>
              <a:rPr spc="-55" dirty="0"/>
              <a:t> </a:t>
            </a:r>
            <a:r>
              <a:rPr spc="-110" dirty="0"/>
              <a:t>directly</a:t>
            </a:r>
            <a:r>
              <a:rPr spc="15" dirty="0"/>
              <a:t> </a:t>
            </a:r>
            <a:r>
              <a:rPr spc="-145" dirty="0"/>
              <a:t>within</a:t>
            </a:r>
            <a:r>
              <a:rPr spc="-35" dirty="0"/>
              <a:t> </a:t>
            </a:r>
            <a:r>
              <a:rPr spc="-25" dirty="0"/>
              <a:t>the 	</a:t>
            </a:r>
            <a:r>
              <a:rPr spc="-125" dirty="0"/>
              <a:t>chat</a:t>
            </a:r>
            <a:r>
              <a:rPr spc="-90" dirty="0"/>
              <a:t> </a:t>
            </a:r>
            <a:r>
              <a:rPr spc="-55" dirty="0"/>
              <a:t>interface.</a:t>
            </a:r>
          </a:p>
          <a:p>
            <a:pPr marL="474345" marR="145415" indent="-462280">
              <a:lnSpc>
                <a:spcPct val="91600"/>
              </a:lnSpc>
              <a:spcBef>
                <a:spcPts val="1930"/>
              </a:spcBef>
              <a:buChar char="•"/>
              <a:tabLst>
                <a:tab pos="474345" algn="l"/>
                <a:tab pos="475615" algn="l"/>
              </a:tabLst>
            </a:pPr>
            <a:r>
              <a:rPr dirty="0">
                <a:solidFill>
                  <a:srgbClr val="707070"/>
                </a:solidFill>
              </a:rPr>
              <a:t>	</a:t>
            </a:r>
            <a:r>
              <a:rPr spc="-125" dirty="0"/>
              <a:t>Context-</a:t>
            </a:r>
            <a:r>
              <a:rPr spc="-80" dirty="0"/>
              <a:t>Aware</a:t>
            </a:r>
            <a:r>
              <a:rPr spc="45" dirty="0"/>
              <a:t> </a:t>
            </a:r>
            <a:r>
              <a:rPr spc="-60" dirty="0"/>
              <a:t>Dialogue:</a:t>
            </a:r>
            <a:r>
              <a:rPr spc="-120" dirty="0"/>
              <a:t> </a:t>
            </a:r>
            <a:r>
              <a:rPr spc="-180" dirty="0"/>
              <a:t>Powered</a:t>
            </a:r>
            <a:r>
              <a:rPr spc="15" dirty="0"/>
              <a:t> </a:t>
            </a:r>
            <a:r>
              <a:rPr spc="-185" dirty="0"/>
              <a:t>by</a:t>
            </a:r>
            <a:r>
              <a:rPr spc="-50" dirty="0"/>
              <a:t> </a:t>
            </a:r>
            <a:r>
              <a:rPr spc="-25" dirty="0"/>
              <a:t>the </a:t>
            </a:r>
            <a:r>
              <a:rPr sz="3100" spc="-110" dirty="0"/>
              <a:t>Neural</a:t>
            </a:r>
            <a:r>
              <a:rPr sz="3100" spc="-114" dirty="0"/>
              <a:t> </a:t>
            </a:r>
            <a:r>
              <a:rPr sz="3100" spc="-60" dirty="0"/>
              <a:t>Brain,</a:t>
            </a:r>
            <a:r>
              <a:rPr sz="3100" spc="-35" dirty="0"/>
              <a:t> </a:t>
            </a:r>
            <a:r>
              <a:rPr sz="3100" spc="-125" dirty="0"/>
              <a:t>the</a:t>
            </a:r>
            <a:r>
              <a:rPr sz="3100" spc="-195" dirty="0"/>
              <a:t> </a:t>
            </a:r>
            <a:r>
              <a:rPr sz="3100" spc="-60" dirty="0"/>
              <a:t>assistant</a:t>
            </a:r>
            <a:r>
              <a:rPr sz="3100" spc="-40" dirty="0"/>
              <a:t> </a:t>
            </a:r>
            <a:r>
              <a:rPr sz="3100" spc="-80" dirty="0"/>
              <a:t>engages</a:t>
            </a:r>
            <a:r>
              <a:rPr sz="3100" spc="-55" dirty="0"/>
              <a:t> </a:t>
            </a:r>
            <a:r>
              <a:rPr sz="3100" spc="-25" dirty="0"/>
              <a:t>in </a:t>
            </a:r>
            <a:r>
              <a:rPr spc="-155" dirty="0"/>
              <a:t>multi-</a:t>
            </a:r>
            <a:r>
              <a:rPr spc="-110" dirty="0"/>
              <a:t>turn</a:t>
            </a:r>
            <a:r>
              <a:rPr spc="60" dirty="0"/>
              <a:t> </a:t>
            </a:r>
            <a:r>
              <a:rPr spc="-105" dirty="0"/>
              <a:t>conversations,</a:t>
            </a:r>
            <a:r>
              <a:rPr spc="-315" dirty="0"/>
              <a:t> </a:t>
            </a:r>
            <a:r>
              <a:rPr spc="-60" dirty="0"/>
              <a:t>understanding </a:t>
            </a:r>
            <a:r>
              <a:rPr sz="3100" spc="-114" dirty="0"/>
              <a:t>context</a:t>
            </a:r>
            <a:r>
              <a:rPr sz="3100" spc="-60" dirty="0"/>
              <a:t> </a:t>
            </a:r>
            <a:r>
              <a:rPr sz="3100" spc="-90" dirty="0"/>
              <a:t>to</a:t>
            </a:r>
            <a:r>
              <a:rPr sz="3100" spc="-120" dirty="0"/>
              <a:t> </a:t>
            </a:r>
            <a:r>
              <a:rPr sz="3100" spc="-95" dirty="0"/>
              <a:t>provide</a:t>
            </a:r>
            <a:r>
              <a:rPr sz="3100" spc="-80" dirty="0"/>
              <a:t> </a:t>
            </a:r>
            <a:r>
              <a:rPr sz="3100" spc="-100" dirty="0"/>
              <a:t>accurate</a:t>
            </a:r>
            <a:r>
              <a:rPr sz="3100" spc="-75" dirty="0"/>
              <a:t> </a:t>
            </a:r>
            <a:r>
              <a:rPr sz="3100" spc="-80" dirty="0"/>
              <a:t>information</a:t>
            </a:r>
            <a:r>
              <a:rPr sz="3100" spc="-5" dirty="0"/>
              <a:t> </a:t>
            </a:r>
            <a:r>
              <a:rPr sz="3100" spc="-35" dirty="0"/>
              <a:t>on </a:t>
            </a:r>
            <a:r>
              <a:rPr spc="-90" dirty="0"/>
              <a:t>city</a:t>
            </a:r>
            <a:r>
              <a:rPr spc="-130" dirty="0"/>
              <a:t> </a:t>
            </a:r>
            <a:r>
              <a:rPr spc="-120" dirty="0"/>
              <a:t>services,</a:t>
            </a:r>
            <a:r>
              <a:rPr spc="-65" dirty="0"/>
              <a:t> </a:t>
            </a:r>
            <a:r>
              <a:rPr spc="-114" dirty="0"/>
              <a:t>regulations,</a:t>
            </a:r>
            <a:r>
              <a:rPr spc="85" dirty="0"/>
              <a:t> </a:t>
            </a:r>
            <a:r>
              <a:rPr spc="-175" dirty="0"/>
              <a:t>and</a:t>
            </a:r>
            <a:r>
              <a:rPr spc="-70" dirty="0"/>
              <a:t> </a:t>
            </a:r>
            <a:r>
              <a:rPr spc="-10" dirty="0"/>
              <a:t>events.</a:t>
            </a:r>
            <a:endParaRPr sz="3100"/>
          </a:p>
          <a:p>
            <a:pPr marL="468630" marR="5080" indent="-456565">
              <a:lnSpc>
                <a:spcPct val="90300"/>
              </a:lnSpc>
              <a:spcBef>
                <a:spcPts val="2035"/>
              </a:spcBef>
              <a:buChar char="•"/>
              <a:tabLst>
                <a:tab pos="468630" algn="l"/>
                <a:tab pos="475615" algn="l"/>
              </a:tabLst>
            </a:pPr>
            <a:r>
              <a:rPr dirty="0">
                <a:solidFill>
                  <a:srgbClr val="6E6E6E"/>
                </a:solidFill>
              </a:rPr>
              <a:t>	</a:t>
            </a:r>
            <a:r>
              <a:rPr spc="-70" dirty="0"/>
              <a:t>Actionable</a:t>
            </a:r>
            <a:r>
              <a:rPr spc="-114" dirty="0"/>
              <a:t> </a:t>
            </a:r>
            <a:r>
              <a:rPr spc="-35" dirty="0"/>
              <a:t>Intelligence:</a:t>
            </a:r>
            <a:r>
              <a:rPr spc="-10" dirty="0"/>
              <a:t> </a:t>
            </a:r>
            <a:r>
              <a:rPr spc="-170" dirty="0"/>
              <a:t>The</a:t>
            </a:r>
            <a:r>
              <a:rPr spc="-135" dirty="0"/>
              <a:t> </a:t>
            </a:r>
            <a:r>
              <a:rPr spc="-10" dirty="0"/>
              <a:t>assistant </a:t>
            </a:r>
            <a:r>
              <a:rPr spc="-110" dirty="0"/>
              <a:t>initiates</a:t>
            </a:r>
            <a:r>
              <a:rPr spc="-15" dirty="0"/>
              <a:t> </a:t>
            </a:r>
            <a:r>
              <a:rPr spc="-155" dirty="0"/>
              <a:t>workflows,</a:t>
            </a:r>
            <a:r>
              <a:rPr spc="5" dirty="0"/>
              <a:t> </a:t>
            </a:r>
            <a:r>
              <a:rPr spc="-75" dirty="0"/>
              <a:t>logs</a:t>
            </a:r>
            <a:r>
              <a:rPr spc="-135" dirty="0"/>
              <a:t> </a:t>
            </a:r>
            <a:r>
              <a:rPr spc="-114" dirty="0"/>
              <a:t>service</a:t>
            </a:r>
            <a:r>
              <a:rPr spc="-125" dirty="0"/>
              <a:t> </a:t>
            </a:r>
            <a:r>
              <a:rPr spc="-10" dirty="0"/>
              <a:t>requests, </a:t>
            </a:r>
            <a:r>
              <a:rPr spc="-175" dirty="0"/>
              <a:t>and</a:t>
            </a:r>
            <a:r>
              <a:rPr spc="-45" dirty="0"/>
              <a:t> </a:t>
            </a:r>
            <a:r>
              <a:rPr spc="-145" dirty="0"/>
              <a:t>provides</a:t>
            </a:r>
            <a:r>
              <a:rPr spc="30" dirty="0"/>
              <a:t> </a:t>
            </a:r>
            <a:r>
              <a:rPr spc="-120" dirty="0"/>
              <a:t>citizens</a:t>
            </a:r>
            <a:r>
              <a:rPr spc="-40" dirty="0"/>
              <a:t> </a:t>
            </a:r>
            <a:r>
              <a:rPr spc="-140" dirty="0"/>
              <a:t>with</a:t>
            </a:r>
            <a:r>
              <a:rPr spc="-75" dirty="0"/>
              <a:t> </a:t>
            </a:r>
            <a:r>
              <a:rPr spc="-135" dirty="0"/>
              <a:t>tracking</a:t>
            </a:r>
            <a:r>
              <a:rPr spc="30" dirty="0"/>
              <a:t> </a:t>
            </a:r>
            <a:r>
              <a:rPr spc="-100" dirty="0"/>
              <a:t>numbers </a:t>
            </a:r>
            <a:r>
              <a:rPr spc="-175" dirty="0"/>
              <a:t>for</a:t>
            </a:r>
            <a:r>
              <a:rPr spc="-100" dirty="0"/>
              <a:t> </a:t>
            </a:r>
            <a:r>
              <a:rPr spc="-150" dirty="0"/>
              <a:t>their</a:t>
            </a:r>
            <a:r>
              <a:rPr spc="-105" dirty="0"/>
              <a:t> </a:t>
            </a:r>
            <a:r>
              <a:rPr spc="-10" dirty="0"/>
              <a:t>inquiries.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826" y="2441776"/>
            <a:ext cx="3396339" cy="5658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7175500"/>
            <a:ext cx="1155700" cy="1130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1900" y="2717800"/>
            <a:ext cx="673100" cy="11938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587316" y="5363633"/>
            <a:ext cx="0" cy="635000"/>
          </a:xfrm>
          <a:custGeom>
            <a:avLst/>
            <a:gdLst/>
            <a:ahLst/>
            <a:cxnLst/>
            <a:rect l="l" t="t" r="r" b="b"/>
            <a:pathLst>
              <a:path h="635000">
                <a:moveTo>
                  <a:pt x="0" y="635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580966" y="5363633"/>
            <a:ext cx="1143000" cy="635000"/>
            <a:chOff x="8580966" y="5363633"/>
            <a:chExt cx="1143000" cy="635000"/>
          </a:xfrm>
        </p:grpSpPr>
        <p:sp>
          <p:nvSpPr>
            <p:cNvPr id="6" name="object 6"/>
            <p:cNvSpPr/>
            <p:nvPr/>
          </p:nvSpPr>
          <p:spPr>
            <a:xfrm>
              <a:off x="9717616" y="5363633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5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80966" y="5369983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1270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38166" y="5992283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80966" y="5856817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1270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8966200" y="6081183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5">
                <a:moveTo>
                  <a:pt x="0" y="0"/>
                </a:moveTo>
                <a:lnTo>
                  <a:pt x="448733" y="0"/>
                </a:lnTo>
              </a:path>
            </a:pathLst>
          </a:custGeom>
          <a:ln w="29633">
            <a:solidFill>
              <a:srgbClr val="0F0F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36000" y="5916083"/>
            <a:ext cx="1083945" cy="0"/>
          </a:xfrm>
          <a:custGeom>
            <a:avLst/>
            <a:gdLst/>
            <a:ahLst/>
            <a:cxnLst/>
            <a:rect l="l" t="t" r="r" b="b"/>
            <a:pathLst>
              <a:path w="1083945">
                <a:moveTo>
                  <a:pt x="0" y="0"/>
                </a:moveTo>
                <a:lnTo>
                  <a:pt x="1083733" y="0"/>
                </a:lnTo>
              </a:path>
            </a:pathLst>
          </a:custGeom>
          <a:ln w="29633">
            <a:solidFill>
              <a:srgbClr val="0F0F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4100" y="5410200"/>
            <a:ext cx="1016000" cy="3683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10600" y="4800600"/>
            <a:ext cx="1854200" cy="5080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141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25"/>
              </a:spcBef>
            </a:pPr>
            <a:r>
              <a:rPr sz="5250" spc="114" dirty="0">
                <a:latin typeface="Arial MT"/>
                <a:cs typeface="Arial MT"/>
              </a:rPr>
              <a:t>Proactive</a:t>
            </a:r>
            <a:r>
              <a:rPr sz="5250" spc="-130" dirty="0">
                <a:latin typeface="Arial MT"/>
                <a:cs typeface="Arial MT"/>
              </a:rPr>
              <a:t> </a:t>
            </a:r>
            <a:r>
              <a:rPr sz="5250" spc="135" dirty="0">
                <a:latin typeface="Arial MT"/>
                <a:cs typeface="Arial MT"/>
              </a:rPr>
              <a:t>Safety:</a:t>
            </a:r>
            <a:r>
              <a:rPr sz="5250" spc="-250" dirty="0">
                <a:latin typeface="Arial MT"/>
                <a:cs typeface="Arial MT"/>
              </a:rPr>
              <a:t> </a:t>
            </a:r>
            <a:r>
              <a:rPr sz="5250" spc="110" dirty="0">
                <a:latin typeface="Arial MT"/>
                <a:cs typeface="Arial MT"/>
              </a:rPr>
              <a:t>Integrated</a:t>
            </a:r>
            <a:r>
              <a:rPr sz="5250" spc="15" dirty="0">
                <a:latin typeface="Arial MT"/>
                <a:cs typeface="Arial MT"/>
              </a:rPr>
              <a:t> </a:t>
            </a:r>
            <a:r>
              <a:rPr sz="5250" dirty="0">
                <a:latin typeface="Arial MT"/>
                <a:cs typeface="Arial MT"/>
              </a:rPr>
              <a:t>Emergency</a:t>
            </a:r>
            <a:r>
              <a:rPr sz="5250" spc="455" dirty="0">
                <a:latin typeface="Arial MT"/>
                <a:cs typeface="Arial MT"/>
              </a:rPr>
              <a:t> </a:t>
            </a:r>
            <a:r>
              <a:rPr sz="5250" spc="-10" dirty="0">
                <a:latin typeface="Arial MT"/>
                <a:cs typeface="Arial MT"/>
              </a:rPr>
              <a:t>Response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94160" y="1845733"/>
            <a:ext cx="5753735" cy="2466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310" dirty="0">
                <a:latin typeface="Arial MT"/>
                <a:cs typeface="Arial MT"/>
              </a:rPr>
              <a:t>SOS</a:t>
            </a:r>
            <a:r>
              <a:rPr sz="2900" spc="60" dirty="0">
                <a:latin typeface="Arial MT"/>
                <a:cs typeface="Arial MT"/>
              </a:rPr>
              <a:t> </a:t>
            </a:r>
            <a:r>
              <a:rPr sz="2900" spc="-75" dirty="0">
                <a:latin typeface="Arial MT"/>
                <a:cs typeface="Arial MT"/>
              </a:rPr>
              <a:t>Signal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Flow</a:t>
            </a:r>
            <a:endParaRPr sz="2900">
              <a:latin typeface="Arial MT"/>
              <a:cs typeface="Arial MT"/>
            </a:endParaRPr>
          </a:p>
          <a:p>
            <a:pPr marL="359410" marR="5080" indent="-339725">
              <a:lnSpc>
                <a:spcPct val="105600"/>
              </a:lnSpc>
              <a:spcBef>
                <a:spcPts val="3050"/>
              </a:spcBef>
            </a:pPr>
            <a:r>
              <a:rPr sz="2500" dirty="0">
                <a:latin typeface="Arial MT"/>
                <a:cs typeface="Arial MT"/>
              </a:rPr>
              <a:t>1.</a:t>
            </a:r>
            <a:r>
              <a:rPr sz="2500" spc="-245" dirty="0">
                <a:latin typeface="Arial MT"/>
                <a:cs typeface="Arial MT"/>
              </a:rPr>
              <a:t> </a:t>
            </a:r>
            <a:r>
              <a:rPr sz="2500" spc="55" dirty="0">
                <a:latin typeface="Arial MT"/>
                <a:cs typeface="Arial MT"/>
              </a:rPr>
              <a:t>Initiation: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citizen</a:t>
            </a:r>
            <a:r>
              <a:rPr sz="2500" spc="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activates</a:t>
            </a:r>
            <a:r>
              <a:rPr sz="2500" spc="1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spc="-295" dirty="0">
                <a:latin typeface="Arial MT"/>
                <a:cs typeface="Arial MT"/>
              </a:rPr>
              <a:t>SOS </a:t>
            </a:r>
            <a:r>
              <a:rPr sz="2500" spc="-10" dirty="0">
                <a:latin typeface="Arial MT"/>
                <a:cs typeface="Arial MT"/>
              </a:rPr>
              <a:t>signal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via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1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app's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0A2859"/>
                </a:solidFill>
                <a:latin typeface="Arial MT"/>
                <a:cs typeface="Arial MT"/>
              </a:rPr>
              <a:t>SOSButton.tsx </a:t>
            </a:r>
            <a:r>
              <a:rPr sz="2500" dirty="0">
                <a:latin typeface="Arial MT"/>
                <a:cs typeface="Arial MT"/>
              </a:rPr>
              <a:t>component,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instantly</a:t>
            </a:r>
            <a:r>
              <a:rPr sz="2500" spc="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transmitting </a:t>
            </a:r>
            <a:r>
              <a:rPr sz="2500" spc="-10" dirty="0">
                <a:latin typeface="Arial MT"/>
                <a:cs typeface="Arial MT"/>
              </a:rPr>
              <a:t>their </a:t>
            </a:r>
            <a:r>
              <a:rPr sz="2500" dirty="0">
                <a:latin typeface="Arial MT"/>
                <a:cs typeface="Arial MT"/>
              </a:rPr>
              <a:t>precise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245" dirty="0">
                <a:latin typeface="Arial MT"/>
                <a:cs typeface="Arial MT"/>
              </a:rPr>
              <a:t>GPS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coordinates.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40264" y="4696530"/>
            <a:ext cx="5805805" cy="1625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15">
              <a:lnSpc>
                <a:spcPct val="100400"/>
              </a:lnSpc>
              <a:spcBef>
                <a:spcPts val="105"/>
              </a:spcBef>
            </a:pPr>
            <a:r>
              <a:rPr sz="2550" spc="-35" dirty="0">
                <a:latin typeface="Arial MT"/>
                <a:cs typeface="Arial MT"/>
              </a:rPr>
              <a:t>Triage</a:t>
            </a:r>
            <a:r>
              <a:rPr sz="2550" spc="-195" dirty="0">
                <a:latin typeface="Arial MT"/>
                <a:cs typeface="Arial MT"/>
              </a:rPr>
              <a:t> </a:t>
            </a:r>
            <a:r>
              <a:rPr sz="2550" spc="-85" dirty="0">
                <a:latin typeface="Arial MT"/>
                <a:cs typeface="Arial MT"/>
              </a:rPr>
              <a:t>&amp;</a:t>
            </a:r>
            <a:r>
              <a:rPr sz="2550" spc="-22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Dispatch:</a:t>
            </a:r>
            <a:r>
              <a:rPr sz="2550" spc="-114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The</a:t>
            </a:r>
            <a:r>
              <a:rPr sz="2550" spc="-5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signal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appears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on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175" dirty="0">
                <a:latin typeface="Arial MT"/>
                <a:cs typeface="Arial MT"/>
              </a:rPr>
              <a:t> </a:t>
            </a:r>
            <a:r>
              <a:rPr sz="2600" spc="-80" dirty="0">
                <a:latin typeface="Arial MT"/>
                <a:cs typeface="Arial MT"/>
              </a:rPr>
              <a:t>Operations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85" dirty="0">
                <a:latin typeface="Arial MT"/>
                <a:cs typeface="Arial MT"/>
              </a:rPr>
              <a:t>Dashboard.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90" dirty="0">
                <a:latin typeface="Arial MT"/>
                <a:cs typeface="Arial MT"/>
              </a:rPr>
              <a:t>The </a:t>
            </a:r>
            <a:r>
              <a:rPr sz="2600" spc="-10" dirty="0">
                <a:latin typeface="Arial MT"/>
                <a:cs typeface="Arial MT"/>
              </a:rPr>
              <a:t>system </a:t>
            </a:r>
            <a:r>
              <a:rPr sz="2700" spc="-95" dirty="0">
                <a:latin typeface="Arial MT"/>
                <a:cs typeface="Arial MT"/>
              </a:rPr>
              <a:t>cross-references</a:t>
            </a:r>
            <a:r>
              <a:rPr sz="2700" spc="-150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the</a:t>
            </a:r>
            <a:r>
              <a:rPr sz="2700" spc="-100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location</a:t>
            </a:r>
            <a:r>
              <a:rPr sz="2700" spc="20" dirty="0">
                <a:latin typeface="Arial MT"/>
                <a:cs typeface="Arial MT"/>
              </a:rPr>
              <a:t> </a:t>
            </a:r>
            <a:r>
              <a:rPr sz="2700" spc="-60" dirty="0">
                <a:latin typeface="Arial MT"/>
                <a:cs typeface="Arial MT"/>
              </a:rPr>
              <a:t>with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spc="-145" dirty="0">
                <a:latin typeface="Arial MT"/>
                <a:cs typeface="Arial MT"/>
              </a:rPr>
              <a:t>nearby </a:t>
            </a:r>
            <a:r>
              <a:rPr sz="2600" spc="-70" dirty="0">
                <a:latin typeface="Arial MT"/>
                <a:cs typeface="Arial MT"/>
              </a:rPr>
              <a:t>emergency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units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60" dirty="0">
                <a:latin typeface="Arial MT"/>
                <a:cs typeface="Arial MT"/>
              </a:rPr>
              <a:t>(police,</a:t>
            </a:r>
            <a:r>
              <a:rPr sz="2600" spc="-1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ambulance).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43144" y="6718300"/>
            <a:ext cx="5629275" cy="20129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7145" marR="5080" indent="-5080">
              <a:lnSpc>
                <a:spcPts val="3150"/>
              </a:lnSpc>
              <a:spcBef>
                <a:spcPts val="80"/>
              </a:spcBef>
            </a:pPr>
            <a:r>
              <a:rPr sz="2500" dirty="0">
                <a:latin typeface="Arial MT"/>
                <a:cs typeface="Arial MT"/>
              </a:rPr>
              <a:t>Live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Unit</a:t>
            </a:r>
            <a:r>
              <a:rPr sz="2500" spc="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Tracking:</a:t>
            </a:r>
            <a:r>
              <a:rPr sz="2500" spc="10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Dispatched</a:t>
            </a:r>
            <a:r>
              <a:rPr sz="2500" spc="20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units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are </a:t>
            </a:r>
            <a:r>
              <a:rPr sz="2500" dirty="0">
                <a:latin typeface="Arial MT"/>
                <a:cs typeface="Arial MT"/>
              </a:rPr>
              <a:t>tracked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real-</a:t>
            </a:r>
            <a:r>
              <a:rPr sz="2500" dirty="0">
                <a:latin typeface="Arial MT"/>
                <a:cs typeface="Arial MT"/>
              </a:rPr>
              <a:t>time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on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digital</a:t>
            </a:r>
            <a:r>
              <a:rPr sz="2500" spc="-20" dirty="0">
                <a:latin typeface="Arial MT"/>
                <a:cs typeface="Arial MT"/>
              </a:rPr>
              <a:t> twin</a:t>
            </a:r>
            <a:endParaRPr sz="25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20"/>
              </a:spcBef>
              <a:tabLst>
                <a:tab pos="3883025" algn="l"/>
              </a:tabLst>
            </a:pPr>
            <a:r>
              <a:rPr sz="2550" spc="-85" dirty="0">
                <a:latin typeface="Arial MT"/>
                <a:cs typeface="Arial MT"/>
              </a:rPr>
              <a:t>map,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providing</a:t>
            </a:r>
            <a:r>
              <a:rPr sz="2550" spc="-9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dispatchers</a:t>
            </a:r>
            <a:r>
              <a:rPr sz="2550" dirty="0">
                <a:latin typeface="Arial MT"/>
                <a:cs typeface="Arial MT"/>
              </a:rPr>
              <a:t>	with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spc="-285" dirty="0">
                <a:latin typeface="Arial MT"/>
                <a:cs typeface="Arial MT"/>
              </a:rPr>
              <a:t>a</a:t>
            </a:r>
            <a:r>
              <a:rPr sz="2550" spc="7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live</a:t>
            </a: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dirty="0">
                <a:latin typeface="Arial MT"/>
                <a:cs typeface="Arial MT"/>
              </a:rPr>
              <a:t>operational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view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until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incident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spc="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220"/>
              </a:spcBef>
            </a:pPr>
            <a:r>
              <a:rPr sz="2500" spc="-10" dirty="0">
                <a:latin typeface="Arial MT"/>
                <a:cs typeface="Arial MT"/>
              </a:rPr>
              <a:t>resolved.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09" y="2202478"/>
            <a:ext cx="7840169" cy="63350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8077200"/>
            <a:ext cx="15519400" cy="977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2451100"/>
            <a:ext cx="4432300" cy="4432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3900" y="6477000"/>
            <a:ext cx="8153400" cy="215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43900" y="4699000"/>
            <a:ext cx="8153400" cy="2032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343900" y="2904067"/>
            <a:ext cx="8153400" cy="220345"/>
            <a:chOff x="8343900" y="2904067"/>
            <a:chExt cx="8153400" cy="22034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3900" y="2908300"/>
              <a:ext cx="8153400" cy="215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445500" y="2906183"/>
              <a:ext cx="7980045" cy="0"/>
            </a:xfrm>
            <a:custGeom>
              <a:avLst/>
              <a:gdLst/>
              <a:ahLst/>
              <a:cxnLst/>
              <a:rect l="l" t="t" r="r" b="b"/>
              <a:pathLst>
                <a:path w="7980044">
                  <a:moveTo>
                    <a:pt x="0" y="0"/>
                  </a:moveTo>
                  <a:lnTo>
                    <a:pt x="7979833" y="0"/>
                  </a:lnTo>
                </a:path>
              </a:pathLst>
            </a:custGeom>
            <a:ln w="4233">
              <a:solidFill>
                <a:srgbClr val="4460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7873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30"/>
              </a:spcBef>
            </a:pPr>
            <a:r>
              <a:rPr spc="145" dirty="0"/>
              <a:t>Ready</a:t>
            </a:r>
            <a:r>
              <a:rPr spc="-40" dirty="0"/>
              <a:t> </a:t>
            </a:r>
            <a:r>
              <a:rPr dirty="0"/>
              <a:t>for</a:t>
            </a:r>
            <a:r>
              <a:rPr spc="-235" dirty="0"/>
              <a:t> </a:t>
            </a:r>
            <a:r>
              <a:rPr spc="80" dirty="0"/>
              <a:t>Pilot</a:t>
            </a:r>
            <a:r>
              <a:rPr spc="-150" dirty="0"/>
              <a:t> </a:t>
            </a:r>
            <a:r>
              <a:rPr spc="40" dirty="0"/>
              <a:t>Deployment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63855" y="4032250"/>
            <a:ext cx="181737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spc="350" dirty="0">
                <a:latin typeface="Calibri"/>
                <a:cs typeface="Calibri"/>
              </a:rPr>
              <a:t>85%</a:t>
            </a:r>
            <a:endParaRPr sz="7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4156" y="7022394"/>
            <a:ext cx="303593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45" dirty="0">
                <a:latin typeface="Calibri"/>
                <a:cs typeface="Calibri"/>
              </a:rPr>
              <a:t>Technical</a:t>
            </a:r>
            <a:r>
              <a:rPr sz="3050" spc="-125" dirty="0">
                <a:latin typeface="Calibri"/>
                <a:cs typeface="Calibri"/>
              </a:rPr>
              <a:t> </a:t>
            </a:r>
            <a:r>
              <a:rPr sz="3050" spc="-60" dirty="0">
                <a:latin typeface="Calibri"/>
                <a:cs typeface="Calibri"/>
              </a:rPr>
              <a:t>Readiness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25491" y="2366433"/>
            <a:ext cx="7390130" cy="15665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latin typeface="Calibri"/>
                <a:cs typeface="Calibri"/>
              </a:rPr>
              <a:t>Backend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spc="-65" dirty="0">
                <a:latin typeface="Calibri"/>
                <a:cs typeface="Calibri"/>
              </a:rPr>
              <a:t>Core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65" dirty="0">
                <a:latin typeface="Calibri"/>
                <a:cs typeface="Calibri"/>
              </a:rPr>
              <a:t>&amp;</a:t>
            </a:r>
            <a:r>
              <a:rPr sz="2900" spc="-18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APIs: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100%</a:t>
            </a:r>
            <a:endParaRPr sz="2900">
              <a:latin typeface="Calibri"/>
              <a:cs typeface="Calibri"/>
            </a:endParaRPr>
          </a:p>
          <a:p>
            <a:pPr marL="25400" marR="5080" indent="53340">
              <a:lnSpc>
                <a:spcPts val="2700"/>
              </a:lnSpc>
              <a:spcBef>
                <a:spcPts val="3260"/>
              </a:spcBef>
            </a:pPr>
            <a:r>
              <a:rPr sz="2550" spc="-114" dirty="0">
                <a:latin typeface="Calibri"/>
                <a:cs typeface="Calibri"/>
              </a:rPr>
              <a:t>The</a:t>
            </a:r>
            <a:r>
              <a:rPr sz="2550" spc="-145" dirty="0">
                <a:latin typeface="Calibri"/>
                <a:cs typeface="Calibri"/>
              </a:rPr>
              <a:t> </a:t>
            </a:r>
            <a:r>
              <a:rPr sz="2550" spc="-85" dirty="0">
                <a:latin typeface="Calibri"/>
                <a:cs typeface="Calibri"/>
              </a:rPr>
              <a:t>FastAPl</a:t>
            </a:r>
            <a:r>
              <a:rPr sz="2550" spc="-60" dirty="0">
                <a:latin typeface="Calibri"/>
                <a:cs typeface="Calibri"/>
              </a:rPr>
              <a:t> </a:t>
            </a:r>
            <a:r>
              <a:rPr sz="2550" spc="-114" dirty="0">
                <a:latin typeface="Calibri"/>
                <a:cs typeface="Calibri"/>
              </a:rPr>
              <a:t>foundation</a:t>
            </a:r>
            <a:r>
              <a:rPr sz="2550" spc="65" dirty="0">
                <a:latin typeface="Calibri"/>
                <a:cs typeface="Calibri"/>
              </a:rPr>
              <a:t> </a:t>
            </a:r>
            <a:r>
              <a:rPr sz="2550" spc="-20" dirty="0">
                <a:latin typeface="Calibri"/>
                <a:cs typeface="Calibri"/>
              </a:rPr>
              <a:t>is</a:t>
            </a:r>
            <a:r>
              <a:rPr sz="2550" spc="-114" dirty="0">
                <a:latin typeface="Calibri"/>
                <a:cs typeface="Calibri"/>
              </a:rPr>
              <a:t> </a:t>
            </a:r>
            <a:r>
              <a:rPr sz="2550" spc="-75" dirty="0">
                <a:latin typeface="Calibri"/>
                <a:cs typeface="Calibri"/>
              </a:rPr>
              <a:t>fully</a:t>
            </a:r>
            <a:r>
              <a:rPr sz="2550" spc="-65" dirty="0">
                <a:latin typeface="Calibri"/>
                <a:cs typeface="Calibri"/>
              </a:rPr>
              <a:t> </a:t>
            </a:r>
            <a:r>
              <a:rPr sz="2550" spc="-90" dirty="0">
                <a:latin typeface="Calibri"/>
                <a:cs typeface="Calibri"/>
              </a:rPr>
              <a:t>operational,</a:t>
            </a:r>
            <a:r>
              <a:rPr sz="2550" spc="40" dirty="0">
                <a:latin typeface="Calibri"/>
                <a:cs typeface="Calibri"/>
              </a:rPr>
              <a:t> </a:t>
            </a:r>
            <a:r>
              <a:rPr sz="2550" spc="-95" dirty="0">
                <a:latin typeface="Calibri"/>
                <a:cs typeface="Calibri"/>
              </a:rPr>
              <a:t>stable,</a:t>
            </a:r>
            <a:r>
              <a:rPr sz="2550" spc="-120" dirty="0">
                <a:latin typeface="Calibri"/>
                <a:cs typeface="Calibri"/>
              </a:rPr>
              <a:t> </a:t>
            </a:r>
            <a:r>
              <a:rPr sz="2550" spc="-75" dirty="0">
                <a:latin typeface="Calibri"/>
                <a:cs typeface="Calibri"/>
              </a:rPr>
              <a:t>and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load- </a:t>
            </a:r>
            <a:r>
              <a:rPr sz="2550" spc="-125" dirty="0">
                <a:latin typeface="Calibri"/>
                <a:cs typeface="Calibri"/>
              </a:rPr>
              <a:t>tested.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spc="-35" dirty="0">
                <a:latin typeface="Calibri"/>
                <a:cs typeface="Calibri"/>
              </a:rPr>
              <a:t>All</a:t>
            </a:r>
            <a:r>
              <a:rPr sz="2550" spc="-175" dirty="0">
                <a:latin typeface="Calibri"/>
                <a:cs typeface="Calibri"/>
              </a:rPr>
              <a:t> </a:t>
            </a:r>
            <a:r>
              <a:rPr sz="2550" spc="-190" dirty="0">
                <a:latin typeface="Calibri"/>
                <a:cs typeface="Calibri"/>
              </a:rPr>
              <a:t>40+</a:t>
            </a:r>
            <a:r>
              <a:rPr sz="2550" spc="35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endpoints</a:t>
            </a:r>
            <a:r>
              <a:rPr sz="2550" spc="90" dirty="0">
                <a:latin typeface="Calibri"/>
                <a:cs typeface="Calibri"/>
              </a:rPr>
              <a:t> </a:t>
            </a:r>
            <a:r>
              <a:rPr sz="2550" spc="-125" dirty="0">
                <a:latin typeface="Calibri"/>
                <a:cs typeface="Calibri"/>
              </a:rPr>
              <a:t>are</a:t>
            </a:r>
            <a:r>
              <a:rPr sz="2550" spc="-13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complete.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7842" y="4162072"/>
            <a:ext cx="245999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latin typeface="Calibri"/>
                <a:cs typeface="Calibri"/>
              </a:rPr>
              <a:t>AI</a:t>
            </a:r>
            <a:r>
              <a:rPr sz="2750" spc="-10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Modules: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spc="80" dirty="0" smtClean="0">
                <a:latin typeface="Calibri"/>
                <a:cs typeface="Calibri"/>
              </a:rPr>
              <a:t>95%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33449" y="5000977"/>
            <a:ext cx="7291070" cy="7137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10795">
              <a:lnSpc>
                <a:spcPct val="104200"/>
              </a:lnSpc>
              <a:spcBef>
                <a:spcPts val="10"/>
              </a:spcBef>
            </a:pPr>
            <a:r>
              <a:rPr sz="2200" spc="-25" dirty="0">
                <a:latin typeface="Arial MT"/>
                <a:cs typeface="Arial MT"/>
              </a:rPr>
              <a:t>All</a:t>
            </a:r>
            <a:r>
              <a:rPr sz="2200" spc="-254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12</a:t>
            </a:r>
            <a:r>
              <a:rPr sz="2200" spc="-170" dirty="0"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C1C1C"/>
                </a:solidFill>
                <a:latin typeface="Arial MT"/>
                <a:cs typeface="Arial MT"/>
              </a:rPr>
              <a:t>"Neural</a:t>
            </a:r>
            <a:r>
              <a:rPr sz="2200" spc="-1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Brain"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engines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are</a:t>
            </a:r>
            <a:r>
              <a:rPr sz="2200" spc="-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integrated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and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functioning. </a:t>
            </a:r>
            <a:r>
              <a:rPr sz="2200" dirty="0">
                <a:latin typeface="Arial MT"/>
                <a:cs typeface="Arial MT"/>
              </a:rPr>
              <a:t>Final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spc="-75" dirty="0">
                <a:latin typeface="Arial MT"/>
                <a:cs typeface="Arial MT"/>
              </a:rPr>
              <a:t>stage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tuning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and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optimization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spc="-80" dirty="0">
                <a:latin typeface="Arial MT"/>
                <a:cs typeface="Arial MT"/>
              </a:rPr>
              <a:t>are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90" dirty="0">
                <a:latin typeface="Arial MT"/>
                <a:cs typeface="Arial MT"/>
              </a:rPr>
              <a:t>in</a:t>
            </a:r>
            <a:r>
              <a:rPr sz="2200" spc="-2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prOgress.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27712" y="5948891"/>
            <a:ext cx="314515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70" dirty="0">
                <a:latin typeface="Calibri"/>
                <a:cs typeface="Calibri"/>
              </a:rPr>
              <a:t>Frontend</a:t>
            </a:r>
            <a:r>
              <a:rPr sz="2700" spc="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UI/UX: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25" dirty="0">
                <a:latin typeface="Calibri"/>
                <a:cs typeface="Calibri"/>
              </a:rPr>
              <a:t>90%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25732" y="6741230"/>
            <a:ext cx="7885430" cy="7600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6510" marR="5080" indent="-4445">
              <a:lnSpc>
                <a:spcPts val="2700"/>
              </a:lnSpc>
              <a:spcBef>
                <a:spcPts val="509"/>
              </a:spcBef>
            </a:pPr>
            <a:r>
              <a:rPr sz="2550" spc="-85" dirty="0">
                <a:latin typeface="Calibri"/>
                <a:cs typeface="Calibri"/>
              </a:rPr>
              <a:t>22</a:t>
            </a:r>
            <a:r>
              <a:rPr sz="2550" spc="-235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interactive</a:t>
            </a:r>
            <a:r>
              <a:rPr sz="2550" spc="-40" dirty="0">
                <a:latin typeface="Calibri"/>
                <a:cs typeface="Calibri"/>
              </a:rPr>
              <a:t> </a:t>
            </a:r>
            <a:r>
              <a:rPr sz="2550" spc="-90" dirty="0">
                <a:latin typeface="Calibri"/>
                <a:cs typeface="Calibri"/>
              </a:rPr>
              <a:t>pages</a:t>
            </a:r>
            <a:r>
              <a:rPr sz="2550" spc="-15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and</a:t>
            </a:r>
            <a:r>
              <a:rPr sz="2550" spc="-35" dirty="0">
                <a:latin typeface="Calibri"/>
                <a:cs typeface="Calibri"/>
              </a:rPr>
              <a:t> </a:t>
            </a:r>
            <a:r>
              <a:rPr sz="2550" spc="-150" dirty="0">
                <a:latin typeface="Calibri"/>
                <a:cs typeface="Calibri"/>
              </a:rPr>
              <a:t>the</a:t>
            </a:r>
            <a:r>
              <a:rPr sz="2550" spc="-125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core</a:t>
            </a:r>
            <a:r>
              <a:rPr sz="2550" spc="-140" dirty="0">
                <a:latin typeface="Calibri"/>
                <a:cs typeface="Calibri"/>
              </a:rPr>
              <a:t> </a:t>
            </a:r>
            <a:r>
              <a:rPr sz="2550" spc="-165" dirty="0">
                <a:latin typeface="Calibri"/>
                <a:cs typeface="Calibri"/>
              </a:rPr>
              <a:t>3D</a:t>
            </a:r>
            <a:r>
              <a:rPr sz="2550" spc="-135" dirty="0">
                <a:latin typeface="Calibri"/>
                <a:cs typeface="Calibri"/>
              </a:rPr>
              <a:t> </a:t>
            </a:r>
            <a:r>
              <a:rPr sz="2550" spc="-50" dirty="0">
                <a:latin typeface="Calibri"/>
                <a:cs typeface="Calibri"/>
              </a:rPr>
              <a:t>digital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sz="2550" spc="-135" dirty="0">
                <a:latin typeface="Calibri"/>
                <a:cs typeface="Calibri"/>
              </a:rPr>
              <a:t>twin</a:t>
            </a:r>
            <a:r>
              <a:rPr sz="2550" spc="-10" dirty="0">
                <a:latin typeface="Calibri"/>
                <a:cs typeface="Calibri"/>
              </a:rPr>
              <a:t> </a:t>
            </a:r>
            <a:r>
              <a:rPr sz="2550" spc="-80" dirty="0">
                <a:latin typeface="Calibri"/>
                <a:cs typeface="Calibri"/>
              </a:rPr>
              <a:t>visualization</a:t>
            </a:r>
            <a:r>
              <a:rPr sz="2550" spc="185" dirty="0">
                <a:latin typeface="Calibri"/>
                <a:cs typeface="Calibri"/>
              </a:rPr>
              <a:t> </a:t>
            </a:r>
            <a:r>
              <a:rPr sz="2550" spc="-25" dirty="0">
                <a:latin typeface="Calibri"/>
                <a:cs typeface="Calibri"/>
              </a:rPr>
              <a:t>are </a:t>
            </a:r>
            <a:r>
              <a:rPr sz="2550" spc="-105" dirty="0">
                <a:latin typeface="Calibri"/>
                <a:cs typeface="Calibri"/>
              </a:rPr>
              <a:t>complete</a:t>
            </a:r>
            <a:r>
              <a:rPr sz="2550" spc="-20" dirty="0">
                <a:latin typeface="Calibri"/>
                <a:cs typeface="Calibri"/>
              </a:rPr>
              <a:t> </a:t>
            </a:r>
            <a:r>
              <a:rPr sz="2550" spc="-114" dirty="0">
                <a:latin typeface="Calibri"/>
                <a:cs typeface="Calibri"/>
              </a:rPr>
              <a:t>and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sz="2550" spc="-114" dirty="0">
                <a:latin typeface="Calibri"/>
                <a:cs typeface="Calibri"/>
              </a:rPr>
              <a:t>connected</a:t>
            </a:r>
            <a:r>
              <a:rPr sz="2550" spc="80" dirty="0">
                <a:latin typeface="Calibri"/>
                <a:cs typeface="Calibri"/>
              </a:rPr>
              <a:t> </a:t>
            </a:r>
            <a:r>
              <a:rPr sz="2550" spc="-120" dirty="0">
                <a:latin typeface="Calibri"/>
                <a:cs typeface="Calibri"/>
              </a:rPr>
              <a:t>to</a:t>
            </a:r>
            <a:r>
              <a:rPr sz="2550" spc="-70" dirty="0">
                <a:latin typeface="Calibri"/>
                <a:cs typeface="Calibri"/>
              </a:rPr>
              <a:t> </a:t>
            </a:r>
            <a:r>
              <a:rPr sz="2550" spc="-150" dirty="0">
                <a:latin typeface="Calibri"/>
                <a:cs typeface="Calibri"/>
              </a:rPr>
              <a:t>the</a:t>
            </a:r>
            <a:r>
              <a:rPr sz="2550" spc="-9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backend.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1590" y="8360127"/>
            <a:ext cx="1396936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50" dirty="0">
                <a:latin typeface="Calibri"/>
                <a:cs typeface="Calibri"/>
              </a:rPr>
              <a:t>Verification: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undergone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rigorous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 testing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successful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end-to-</a:t>
            </a:r>
            <a:r>
              <a:rPr sz="2200" dirty="0">
                <a:latin typeface="Calibri"/>
                <a:cs typeface="Calibri"/>
              </a:rPr>
              <a:t>end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simulations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all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key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workflows.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0" y="3644900"/>
            <a:ext cx="698500" cy="723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596900"/>
            <a:ext cx="15494000" cy="28194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915400" y="3695700"/>
            <a:ext cx="622300" cy="622300"/>
            <a:chOff x="8915400" y="3695700"/>
            <a:chExt cx="622300" cy="6223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78900" y="3695700"/>
              <a:ext cx="508000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15400" y="3898900"/>
              <a:ext cx="622300" cy="2159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66200" y="4102100"/>
              <a:ext cx="520700" cy="2159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60545" y="3603625"/>
            <a:ext cx="848360" cy="7683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1270" algn="just">
              <a:lnSpc>
                <a:spcPts val="1800"/>
              </a:lnSpc>
              <a:spcBef>
                <a:spcPts val="535"/>
              </a:spcBef>
            </a:pPr>
            <a:r>
              <a:rPr sz="1850" spc="105" dirty="0">
                <a:solidFill>
                  <a:srgbClr val="232323"/>
                </a:solidFill>
                <a:latin typeface="Arial MT"/>
                <a:cs typeface="Arial MT"/>
              </a:rPr>
              <a:t>Digital </a:t>
            </a:r>
            <a:r>
              <a:rPr sz="1850" spc="110" dirty="0">
                <a:solidFill>
                  <a:srgbClr val="1A1A1A"/>
                </a:solidFill>
                <a:latin typeface="Arial MT"/>
                <a:cs typeface="Arial MT"/>
              </a:rPr>
              <a:t>Almaty </a:t>
            </a:r>
            <a:r>
              <a:rPr sz="1850" spc="-20" dirty="0">
                <a:solidFill>
                  <a:srgbClr val="0C1F2F"/>
                </a:solidFill>
                <a:latin typeface="Arial MT"/>
                <a:cs typeface="Arial MT"/>
              </a:rPr>
              <a:t>2O25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32267" y="3687586"/>
            <a:ext cx="1429385" cy="5867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3335" marR="5080" indent="-1270">
              <a:lnSpc>
                <a:spcPts val="2000"/>
              </a:lnSpc>
              <a:spcBef>
                <a:spcPts val="509"/>
              </a:spcBef>
            </a:pPr>
            <a:r>
              <a:rPr sz="2000" spc="85" dirty="0">
                <a:solidFill>
                  <a:srgbClr val="0C2134"/>
                </a:solidFill>
                <a:latin typeface="Arial MT"/>
                <a:cs typeface="Arial MT"/>
              </a:rPr>
              <a:t>Digital </a:t>
            </a:r>
            <a:r>
              <a:rPr sz="2000" spc="-10" dirty="0">
                <a:solidFill>
                  <a:srgbClr val="0F2D44"/>
                </a:solidFill>
                <a:latin typeface="Arial MT"/>
                <a:cs typeface="Arial MT"/>
              </a:rPr>
              <a:t>Kazakhstan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52797" y="4628337"/>
            <a:ext cx="7187565" cy="214185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3200" spc="-45" dirty="0">
                <a:latin typeface="Arial MT"/>
                <a:cs typeface="Arial MT"/>
              </a:rPr>
              <a:t>Next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Steps</a:t>
            </a:r>
            <a:endParaRPr sz="3200">
              <a:latin typeface="Arial MT"/>
              <a:cs typeface="Arial MT"/>
            </a:endParaRPr>
          </a:p>
          <a:p>
            <a:pPr marL="498475" marR="48260" indent="-242570">
              <a:lnSpc>
                <a:spcPts val="2700"/>
              </a:lnSpc>
              <a:spcBef>
                <a:spcPts val="1000"/>
              </a:spcBef>
              <a:buChar char="•"/>
              <a:tabLst>
                <a:tab pos="501650" algn="l"/>
              </a:tabLst>
            </a:pPr>
            <a:r>
              <a:rPr sz="2300" spc="-10" dirty="0">
                <a:latin typeface="Arial MT"/>
                <a:cs typeface="Arial MT"/>
              </a:rPr>
              <a:t>Initiate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controlled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pilot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deployment</a:t>
            </a:r>
            <a:r>
              <a:rPr sz="2300" spc="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designated 	</a:t>
            </a:r>
            <a:r>
              <a:rPr sz="2300" dirty="0">
                <a:latin typeface="Arial MT"/>
                <a:cs typeface="Arial MT"/>
              </a:rPr>
              <a:t>city</a:t>
            </a:r>
            <a:r>
              <a:rPr sz="2300" spc="9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district.</a:t>
            </a:r>
            <a:endParaRPr sz="2300">
              <a:latin typeface="Arial MT"/>
              <a:cs typeface="Arial MT"/>
            </a:endParaRPr>
          </a:p>
          <a:p>
            <a:pPr marL="504825" indent="-248285">
              <a:lnSpc>
                <a:spcPts val="2490"/>
              </a:lnSpc>
              <a:buChar char="•"/>
              <a:tabLst>
                <a:tab pos="504825" algn="l"/>
              </a:tabLst>
            </a:pPr>
            <a:r>
              <a:rPr sz="2300" spc="-60" dirty="0">
                <a:latin typeface="Arial MT"/>
                <a:cs typeface="Arial MT"/>
              </a:rPr>
              <a:t>Begin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integration</a:t>
            </a:r>
            <a:r>
              <a:rPr sz="2300" spc="7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with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city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surveillance</a:t>
            </a:r>
            <a:r>
              <a:rPr sz="2300" spc="125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(CCTV)</a:t>
            </a:r>
            <a:r>
              <a:rPr sz="2300" spc="9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and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a</a:t>
            </a:r>
            <a:endParaRPr sz="2300">
              <a:latin typeface="Arial MT"/>
              <a:cs typeface="Arial MT"/>
            </a:endParaRPr>
          </a:p>
          <a:p>
            <a:pPr marL="494030">
              <a:lnSpc>
                <a:spcPts val="2730"/>
              </a:lnSpc>
            </a:pPr>
            <a:r>
              <a:rPr sz="2300" spc="-10" dirty="0">
                <a:latin typeface="Arial MT"/>
                <a:cs typeface="Arial MT"/>
              </a:rPr>
              <a:t>broader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45" dirty="0">
                <a:latin typeface="Arial MT"/>
                <a:cs typeface="Arial MT"/>
              </a:rPr>
              <a:t>IoT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sensor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network.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264" y="6395508"/>
            <a:ext cx="85979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4065" algn="l"/>
              </a:tabLst>
            </a:pPr>
            <a:r>
              <a:rPr sz="2300" spc="-50" dirty="0">
                <a:latin typeface="Arial MT"/>
                <a:cs typeface="Arial MT"/>
              </a:rPr>
              <a:t>.</a:t>
            </a:r>
            <a:r>
              <a:rPr sz="2300" dirty="0">
                <a:latin typeface="Arial MT"/>
                <a:cs typeface="Arial MT"/>
              </a:rPr>
              <a:t>	</a:t>
            </a:r>
            <a:r>
              <a:rPr sz="2300" spc="-50" dirty="0">
                <a:latin typeface="Arial MT"/>
                <a:cs typeface="Arial MT"/>
              </a:rPr>
              <a:t>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0071" y="4628337"/>
            <a:ext cx="7363459" cy="39535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305"/>
              </a:spcBef>
            </a:pPr>
            <a:r>
              <a:rPr sz="3200" spc="-40" dirty="0">
                <a:latin typeface="Arial MT"/>
                <a:cs typeface="Arial MT"/>
              </a:rPr>
              <a:t>This</a:t>
            </a:r>
            <a:r>
              <a:rPr sz="3200" spc="-300" dirty="0">
                <a:latin typeface="Arial MT"/>
                <a:cs typeface="Arial MT"/>
              </a:rPr>
              <a:t> </a:t>
            </a:r>
            <a:r>
              <a:rPr sz="3200" spc="100" dirty="0">
                <a:latin typeface="Arial MT"/>
                <a:cs typeface="Arial MT"/>
              </a:rPr>
              <a:t>is</a:t>
            </a:r>
            <a:r>
              <a:rPr sz="3200" spc="-320" dirty="0">
                <a:latin typeface="Arial MT"/>
                <a:cs typeface="Arial MT"/>
              </a:rPr>
              <a:t> </a:t>
            </a:r>
            <a:r>
              <a:rPr sz="3200" spc="-185" dirty="0">
                <a:latin typeface="Arial MT"/>
                <a:cs typeface="Arial MT"/>
              </a:rPr>
              <a:t>a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Working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System,</a:t>
            </a:r>
            <a:r>
              <a:rPr sz="3200" spc="-280" dirty="0">
                <a:latin typeface="Arial MT"/>
                <a:cs typeface="Arial MT"/>
              </a:rPr>
              <a:t> </a:t>
            </a:r>
            <a:r>
              <a:rPr sz="3200" spc="-40" dirty="0">
                <a:latin typeface="Arial MT"/>
                <a:cs typeface="Arial MT"/>
              </a:rPr>
              <a:t>Not</a:t>
            </a:r>
            <a:r>
              <a:rPr sz="3200" spc="-114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a</a:t>
            </a:r>
            <a:r>
              <a:rPr sz="3200" spc="-229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Concept</a:t>
            </a:r>
            <a:endParaRPr sz="3200">
              <a:latin typeface="Arial MT"/>
              <a:cs typeface="Arial MT"/>
            </a:endParaRPr>
          </a:p>
          <a:p>
            <a:pPr marL="20320" marR="1335405" indent="9525">
              <a:lnSpc>
                <a:spcPct val="96000"/>
              </a:lnSpc>
              <a:spcBef>
                <a:spcPts val="969"/>
              </a:spcBef>
            </a:pPr>
            <a:r>
              <a:rPr sz="2300" spc="-75" dirty="0">
                <a:latin typeface="Arial MT"/>
                <a:cs typeface="Arial MT"/>
              </a:rPr>
              <a:t>Smart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City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Almaty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spc="-254" dirty="0">
                <a:latin typeface="Arial MT"/>
                <a:cs typeface="Arial MT"/>
              </a:rPr>
              <a:t>OS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is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spc="-160" dirty="0">
                <a:latin typeface="Arial MT"/>
                <a:cs typeface="Arial MT"/>
              </a:rPr>
              <a:t>a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fully-</a:t>
            </a:r>
            <a:r>
              <a:rPr sz="2300" spc="-10" dirty="0">
                <a:latin typeface="Arial MT"/>
                <a:cs typeface="Arial MT"/>
              </a:rPr>
              <a:t>realized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platform </a:t>
            </a:r>
            <a:r>
              <a:rPr sz="2300" spc="-35" dirty="0">
                <a:latin typeface="Arial MT"/>
                <a:cs typeface="Arial MT"/>
              </a:rPr>
              <a:t>demonstrating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technical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innovation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and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270" dirty="0">
                <a:latin typeface="Arial MT"/>
                <a:cs typeface="Arial MT"/>
              </a:rPr>
              <a:t>a</a:t>
            </a:r>
            <a:r>
              <a:rPr sz="2300" spc="4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deep </a:t>
            </a:r>
            <a:r>
              <a:rPr sz="2300" spc="-45" dirty="0">
                <a:latin typeface="Arial MT"/>
                <a:cs typeface="Arial MT"/>
              </a:rPr>
              <a:t>understanding</a:t>
            </a:r>
            <a:r>
              <a:rPr sz="2300" spc="10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Almaty's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specific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needs.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3100" dirty="0">
                <a:latin typeface="Arial MT"/>
                <a:cs typeface="Arial MT"/>
              </a:rPr>
              <a:t>Strategic</a:t>
            </a:r>
            <a:r>
              <a:rPr sz="3100" spc="34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Alignment</a:t>
            </a:r>
            <a:endParaRPr sz="3100">
              <a:latin typeface="Arial MT"/>
              <a:cs typeface="Arial MT"/>
            </a:endParaRPr>
          </a:p>
          <a:p>
            <a:pPr marL="19685" marR="5080" indent="3810">
              <a:lnSpc>
                <a:spcPts val="2650"/>
              </a:lnSpc>
              <a:spcBef>
                <a:spcPts val="1060"/>
              </a:spcBef>
            </a:pPr>
            <a:r>
              <a:rPr sz="2300" spc="-95" dirty="0">
                <a:latin typeface="Arial MT"/>
                <a:cs typeface="Arial MT"/>
              </a:rPr>
              <a:t>The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project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directly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supports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core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pillars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"Digital </a:t>
            </a:r>
            <a:r>
              <a:rPr sz="2300" spc="-40" dirty="0">
                <a:latin typeface="Arial MT"/>
                <a:cs typeface="Arial MT"/>
              </a:rPr>
              <a:t>Almaty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2025"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45" dirty="0">
                <a:latin typeface="Arial MT"/>
                <a:cs typeface="Arial MT"/>
              </a:rPr>
              <a:t>and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"Digital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Kazakhstan"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initiatives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by </a:t>
            </a:r>
            <a:r>
              <a:rPr sz="2300" spc="-50" dirty="0">
                <a:latin typeface="Arial MT"/>
                <a:cs typeface="Arial MT"/>
              </a:rPr>
              <a:t>enhancing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public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safety,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improving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ecology,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and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creating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320" dirty="0">
                <a:latin typeface="Arial MT"/>
                <a:cs typeface="Arial MT"/>
              </a:rPr>
              <a:t>a </a:t>
            </a:r>
            <a:r>
              <a:rPr sz="2350" spc="-75" dirty="0">
                <a:latin typeface="Arial MT"/>
                <a:cs typeface="Arial MT"/>
              </a:rPr>
              <a:t>more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efficient,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spc="-65" dirty="0">
                <a:latin typeface="Arial MT"/>
                <a:cs typeface="Arial MT"/>
              </a:rPr>
              <a:t>data-</a:t>
            </a:r>
            <a:r>
              <a:rPr sz="2350" spc="-20" dirty="0">
                <a:latin typeface="Arial MT"/>
                <a:cs typeface="Arial MT"/>
              </a:rPr>
              <a:t>driven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city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administration.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39675" y="8884355"/>
            <a:ext cx="53892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5" dirty="0">
                <a:latin typeface="Arial MT"/>
                <a:cs typeface="Arial MT"/>
              </a:rPr>
              <a:t>Smart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City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Almaty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80" dirty="0">
                <a:latin typeface="Arial MT"/>
                <a:cs typeface="Arial MT"/>
              </a:rPr>
              <a:t>OS</a:t>
            </a:r>
            <a:r>
              <a:rPr sz="3200" spc="-355" dirty="0">
                <a:latin typeface="Arial MT"/>
                <a:cs typeface="Arial MT"/>
              </a:rPr>
              <a:t> </a:t>
            </a:r>
            <a:r>
              <a:rPr sz="3200" spc="100" dirty="0">
                <a:latin typeface="Arial MT"/>
                <a:cs typeface="Arial MT"/>
              </a:rPr>
              <a:t>is</a:t>
            </a:r>
            <a:r>
              <a:rPr sz="3200" spc="-3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ready.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743</Words>
  <Application>Microsoft Office PowerPoint</Application>
  <PresentationFormat>Произвольный</PresentationFormat>
  <Paragraphs>97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 MT</vt:lpstr>
      <vt:lpstr>Calibri</vt:lpstr>
      <vt:lpstr>Office Theme</vt:lpstr>
      <vt:lpstr>Презентация PowerPoint</vt:lpstr>
      <vt:lpstr>Almaty's Challenge: Complexity Without Cohesion</vt:lpstr>
      <vt:lpstr>A Three-Layered, Asynchronous Architecture</vt:lpstr>
      <vt:lpstr>Core Innovation: A Bespoke, Multi-Modal AI Engine</vt:lpstr>
      <vt:lpstr>The Operating Center: A Real-Time View of the City</vt:lpstr>
      <vt:lpstr>The Digital Twin: Visualizing a City in Motion</vt:lpstr>
      <vt:lpstr>NeuralNexus: The AI Citizen Assistant</vt:lpstr>
      <vt:lpstr>Proactive Safety: Integrated Emergency Response</vt:lpstr>
      <vt:lpstr>Ready for Pilot Deployment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Aqsunqar Serikbay</cp:lastModifiedBy>
  <cp:revision>2</cp:revision>
  <dcterms:created xsi:type="dcterms:W3CDTF">2026-01-08T13:05:21Z</dcterms:created>
  <dcterms:modified xsi:type="dcterms:W3CDTF">2026-01-08T13:33:27Z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LastSaved">
    <vt:filetime>2026-01-08T00:00:00Z</vt:filetime>
  </property>
</Properties>
</file>